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2_3ACB10B6.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0" r:id="rId1"/>
  </p:sldMasterIdLst>
  <p:notesMasterIdLst>
    <p:notesMasterId r:id="rId3"/>
  </p:notesMasterIdLst>
  <p:sldIdLst>
    <p:sldId id="258" r:id="rId2"/>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576" userDrawn="1">
          <p15:clr>
            <a:srgbClr val="A4A3A4"/>
          </p15:clr>
        </p15:guide>
        <p15:guide id="5" orient="horz" pos="2232" userDrawn="1">
          <p15:clr>
            <a:srgbClr val="A4A3A4"/>
          </p15:clr>
        </p15:guide>
        <p15:guide id="6" pos="27072" userDrawn="1">
          <p15:clr>
            <a:srgbClr val="A4A3A4"/>
          </p15:clr>
        </p15:guide>
        <p15:guide id="7" orient="horz" pos="8376" userDrawn="1">
          <p15:clr>
            <a:srgbClr val="A4A3A4"/>
          </p15:clr>
        </p15:guide>
        <p15:guide id="8" orient="horz" pos="14256" userDrawn="1">
          <p15:clr>
            <a:srgbClr val="A4A3A4"/>
          </p15:clr>
        </p15:guide>
        <p15:guide id="9" pos="13824" userDrawn="1">
          <p15:clr>
            <a:srgbClr val="A4A3A4"/>
          </p15:clr>
        </p15:guide>
        <p15:guide id="10" orient="horz" pos="676" userDrawn="1">
          <p15:clr>
            <a:srgbClr val="A4A3A4"/>
          </p15:clr>
        </p15:guide>
        <p15:guide id="11" orient="horz" pos="2592" userDrawn="1">
          <p15:clr>
            <a:srgbClr val="A4A3A4"/>
          </p15:clr>
        </p15:guide>
        <p15:guide id="12" orient="horz" pos="2016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5E07615-F5BA-395B-081E-B602B2BB3811}" name="Zhu, Ethan (NIH/NIAID) [F]" initials="ZE([" userId="S::zhue3@nih.gov::8c270721-d6a7-4eda-b5dc-99f0d1bc3ea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8FBFD"/>
    <a:srgbClr val="EAF6F5"/>
    <a:srgbClr val="F3F5F7"/>
    <a:srgbClr val="4F7FA3"/>
    <a:srgbClr val="4E7EA3"/>
    <a:srgbClr val="FF0000"/>
    <a:srgbClr val="BFFFF0"/>
    <a:srgbClr val="35FFDD"/>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209"/>
    <p:restoredTop sz="94752"/>
  </p:normalViewPr>
  <p:slideViewPr>
    <p:cSldViewPr snapToGrid="0">
      <p:cViewPr>
        <p:scale>
          <a:sx n="34" d="100"/>
          <a:sy n="34" d="100"/>
        </p:scale>
        <p:origin x="-504" y="-1712"/>
      </p:cViewPr>
      <p:guideLst>
        <p:guide pos="576"/>
        <p:guide orient="horz" pos="2232"/>
        <p:guide pos="27072"/>
        <p:guide orient="horz" pos="8376"/>
        <p:guide orient="horz" pos="14256"/>
        <p:guide pos="13824"/>
        <p:guide orient="horz" pos="676"/>
        <p:guide orient="horz" pos="2592"/>
        <p:guide orient="horz" pos="20160"/>
      </p:guideLst>
    </p:cSldViewPr>
  </p:slideViewPr>
  <p:notesTextViewPr>
    <p:cViewPr>
      <p:scale>
        <a:sx n="85" d="100"/>
        <a:sy n="85" d="100"/>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8/10/relationships/authors" Target="authors.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omments/modernComment_102_3ACB10B6.xml><?xml version="1.0" encoding="utf-8"?>
<p188:cmLst xmlns:a="http://schemas.openxmlformats.org/drawingml/2006/main" xmlns:r="http://schemas.openxmlformats.org/officeDocument/2006/relationships" xmlns:p188="http://schemas.microsoft.com/office/powerpoint/2018/8/main">
  <p188:cm id="{E5E4DFE2-59F0-884C-BD1D-94FB257A0B20}" authorId="{A5E07615-F5BA-395B-081E-B602B2BB3811}" status="resolved" created="2026-07-23T14:00:42.187">
    <ac:deMkLst xmlns:ac="http://schemas.microsoft.com/office/drawing/2013/main/command">
      <pc:docMk xmlns:pc="http://schemas.microsoft.com/office/powerpoint/2013/main/command"/>
      <pc:sldMk xmlns:pc="http://schemas.microsoft.com/office/powerpoint/2013/main/command" cId="986386614" sldId="258"/>
      <ac:spMk id="176" creationId="{D0182C56-7113-737C-E517-2BB5FC80F952}"/>
    </ac:deMkLst>
    <p188:txBody>
      <a:bodyPr/>
      <a:lstStyle/>
      <a:p>
        <a:r>
          <a:rPr lang="en-US"/>
          <a:t>change sbml generation wizard to something else such as workflow diagram</a:t>
        </a:r>
      </a:p>
    </p188:txBody>
  </p188:cm>
  <p188:cm id="{EBD5F4E0-60AB-DB4F-B726-7A6EA73890A6}" authorId="{A5E07615-F5BA-395B-081E-B602B2BB3811}" status="resolved" created="2026-07-23T14:03:29.362">
    <ac:deMkLst xmlns:ac="http://schemas.microsoft.com/office/drawing/2013/main/command">
      <pc:docMk xmlns:pc="http://schemas.microsoft.com/office/powerpoint/2013/main/command"/>
      <pc:sldMk xmlns:pc="http://schemas.microsoft.com/office/powerpoint/2013/main/command" cId="986386614" sldId="258"/>
      <ac:spMk id="182" creationId="{29458E23-41AD-732B-BA4F-912385E62971}"/>
    </ac:deMkLst>
    <p188:replyLst>
      <p188:reply id="{E62D7B01-3BAB-9D49-AB4E-6D3CC39B7C1C}" authorId="{A5E07615-F5BA-395B-081E-B602B2BB3811}" created="2026-07-23T14:03:40.487">
        <p188:txBody>
          <a:bodyPr/>
          <a:lstStyle/>
          <a:p>
            <a:r>
              <a:rPr lang="en-US"/>
              <a:t>maybe add diagram if really want to include all this info</a:t>
            </a:r>
          </a:p>
        </p188:txBody>
      </p188:reply>
      <p188:reply id="{548F6F4A-59DA-B243-917E-00AF41BBA8DE}" authorId="{A5E07615-F5BA-395B-081E-B602B2BB3811}" created="2026-07-29T18:38:52.117">
        <p188:txBody>
          <a:bodyPr/>
          <a:lstStyle/>
          <a:p>
            <a:r>
              <a:rPr lang="en-US"/>
              <a:t>go over simmune and SBML, what are they?</a:t>
            </a:r>
          </a:p>
        </p188:txBody>
      </p188:reply>
      <p188:reply id="{2E18027E-7592-9B40-A4F9-63D5715BC42E}" authorId="{A5E07615-F5BA-395B-081E-B602B2BB3811}" created="2026-07-30T14:36:50.303">
        <p188:txBody>
          <a:bodyPr/>
          <a:lstStyle/>
          <a:p>
            <a:r>
              <a:rPr lang="en-US"/>
              <a:t>still shorten</a:t>
            </a:r>
          </a:p>
        </p188:txBody>
      </p188:reply>
    </p188:replyLst>
    <p188:txBody>
      <a:bodyPr/>
      <a:lstStyle/>
      <a:p>
        <a:r>
          <a:rPr lang="en-US"/>
          <a:t>consider shortening be more concise</a:t>
        </a:r>
      </a:p>
    </p188:txBody>
  </p188:cm>
  <p188:cm id="{7D1BAD57-198A-C744-BBA1-DF8B990FF7D5}" authorId="{A5E07615-F5BA-395B-081E-B602B2BB3811}" status="resolved" created="2026-07-30T14:40:22.813">
    <ac:deMkLst xmlns:ac="http://schemas.microsoft.com/office/drawing/2013/main/command">
      <pc:docMk xmlns:pc="http://schemas.microsoft.com/office/powerpoint/2013/main/command"/>
      <pc:sldMk xmlns:pc="http://schemas.microsoft.com/office/powerpoint/2013/main/command" cId="986386614" sldId="258"/>
      <ac:spMk id="185" creationId="{A8168DB8-97E5-AE08-A304-C5BE77BEC765}"/>
    </ac:deMkLst>
    <p188:txBody>
      <a:bodyPr/>
      <a:lstStyle/>
      <a:p>
        <a:r>
          <a:rPr lang="en-US"/>
          <a:t>mabye move this to where workflow is now</a:t>
        </a:r>
      </a:p>
    </p188:txBody>
  </p188:cm>
  <p188:cm id="{F51D50C5-B66F-714D-A9E3-8B35CC625013}" authorId="{A5E07615-F5BA-395B-081E-B602B2BB3811}" status="resolved" created="2026-07-30T14:40:31.540">
    <ac:deMkLst xmlns:ac="http://schemas.microsoft.com/office/drawing/2013/main/command">
      <pc:docMk xmlns:pc="http://schemas.microsoft.com/office/powerpoint/2013/main/command"/>
      <pc:sldMk xmlns:pc="http://schemas.microsoft.com/office/powerpoint/2013/main/command" cId="986386614" sldId="258"/>
      <ac:spMk id="190" creationId="{CDC89141-F6D5-0F8E-F4FD-577F65F2EBCD}"/>
    </ac:deMkLst>
    <p188:txBody>
      <a:bodyPr/>
      <a:lstStyle/>
      <a:p>
        <a:r>
          <a:rPr lang="en-US"/>
          <a:t>improve resolution on these images</a:t>
        </a:r>
      </a:p>
    </p188:txBody>
  </p188:cm>
  <p188:cm id="{AC152BF3-9B9C-BB45-8BD8-BD77AC010571}" authorId="{A5E07615-F5BA-395B-081E-B602B2BB3811}" status="resolved" created="2026-07-30T14:42:24.393">
    <ac:deMkLst xmlns:ac="http://schemas.microsoft.com/office/drawing/2013/main/command">
      <pc:docMk xmlns:pc="http://schemas.microsoft.com/office/powerpoint/2013/main/command"/>
      <pc:sldMk xmlns:pc="http://schemas.microsoft.com/office/powerpoint/2013/main/command" cId="986386614" sldId="258"/>
      <ac:spMk id="183" creationId="{E08056B0-479D-FE2D-05E0-DD36BD14D64F}"/>
    </ac:deMkLst>
    <p188:txBody>
      <a:bodyPr/>
      <a:lstStyle/>
      <a:p>
        <a:r>
          <a:rPr lang="en-US"/>
          <a:t>add captions here for the icons less text</a:t>
        </a:r>
      </a:p>
    </p188:txBody>
  </p188:cm>
  <p188:cm id="{2A9BA6CF-940B-D147-A5EF-B06EB5BF71F0}" authorId="{A5E07615-F5BA-395B-081E-B602B2BB3811}" status="resolved" created="2026-07-30T14:47:40.256">
    <ac:deMkLst xmlns:ac="http://schemas.microsoft.com/office/drawing/2013/main/command">
      <pc:docMk xmlns:pc="http://schemas.microsoft.com/office/powerpoint/2013/main/command"/>
      <pc:sldMk xmlns:pc="http://schemas.microsoft.com/office/powerpoint/2013/main/command" cId="986386614" sldId="258"/>
      <ac:spMk id="253" creationId="{B745CB36-1079-BAEC-47B3-0F957C00870B}"/>
    </ac:deMkLst>
    <p188:replyLst>
      <p188:reply id="{396AD124-3D3B-8248-B38D-0CAB28D33523}" authorId="{A5E07615-F5BA-395B-081E-B602B2BB3811}" created="2026-07-30T14:48:07.115">
        <p188:txBody>
          <a:bodyPr/>
          <a:lstStyle/>
          <a:p>
            <a:r>
              <a:rPr lang="en-US"/>
              <a:t>also rearrange this so the final product is portrait view and wide</a:t>
            </a:r>
          </a:p>
        </p188:txBody>
      </p188:reply>
      <p188:reply id="{F1EA2238-4589-774E-976D-5857EEF41D56}" authorId="{A5E07615-F5BA-395B-081E-B602B2BB3811}" created="2026-07-30T14:51:20.176">
        <p188:txBody>
          <a:bodyPr/>
          <a:lstStyle/>
          <a:p>
            <a:r>
              <a:rPr lang="en-US"/>
              <a:t>check photos for suggested layout</a:t>
            </a:r>
          </a:p>
        </p188:txBody>
      </p188:reply>
    </p188:replyLst>
    <p188:txBody>
      <a:bodyPr/>
      <a:lstStyle/>
      <a:p>
        <a:r>
          <a:rPr lang="en-US"/>
          <a:t>remove modeler view</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EDD393-E6BE-1B46-98AC-F87414EA01A6}" type="datetimeFigureOut">
              <a:rPr lang="en-US" smtClean="0"/>
              <a:t>8/4/26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0438A2-0538-3344-A49D-D09FDFBD1772}" type="slidenum">
              <a:rPr lang="en-US" smtClean="0"/>
              <a:t>‹#›</a:t>
            </a:fld>
            <a:endParaRPr lang="en-US"/>
          </a:p>
        </p:txBody>
      </p:sp>
    </p:spTree>
    <p:extLst>
      <p:ext uri="{BB962C8B-B14F-4D97-AF65-F5344CB8AC3E}">
        <p14:creationId xmlns:p14="http://schemas.microsoft.com/office/powerpoint/2010/main" val="3919888195"/>
      </p:ext>
    </p:extLst>
  </p:cSld>
  <p:clrMap bg1="lt1" tx1="dk1" bg2="lt2" tx2="dk2" accent1="accent1" accent2="accent2" accent3="accent3" accent4="accent4" accent5="accent5" accent6="accent6" hlink="hlink" folHlink="folHlink"/>
  <p:notesStyle>
    <a:lvl1pPr marL="0" algn="l" defTabSz="3686861" rtl="0" eaLnBrk="1" latinLnBrk="0" hangingPunct="1">
      <a:defRPr sz="4838" kern="1200">
        <a:solidFill>
          <a:schemeClr val="tx1"/>
        </a:solidFill>
        <a:latin typeface="+mn-lt"/>
        <a:ea typeface="+mn-ea"/>
        <a:cs typeface="+mn-cs"/>
      </a:defRPr>
    </a:lvl1pPr>
    <a:lvl2pPr marL="1843430" algn="l" defTabSz="3686861" rtl="0" eaLnBrk="1" latinLnBrk="0" hangingPunct="1">
      <a:defRPr sz="4838" kern="1200">
        <a:solidFill>
          <a:schemeClr val="tx1"/>
        </a:solidFill>
        <a:latin typeface="+mn-lt"/>
        <a:ea typeface="+mn-ea"/>
        <a:cs typeface="+mn-cs"/>
      </a:defRPr>
    </a:lvl2pPr>
    <a:lvl3pPr marL="3686861" algn="l" defTabSz="3686861" rtl="0" eaLnBrk="1" latinLnBrk="0" hangingPunct="1">
      <a:defRPr sz="4838" kern="1200">
        <a:solidFill>
          <a:schemeClr val="tx1"/>
        </a:solidFill>
        <a:latin typeface="+mn-lt"/>
        <a:ea typeface="+mn-ea"/>
        <a:cs typeface="+mn-cs"/>
      </a:defRPr>
    </a:lvl3pPr>
    <a:lvl4pPr marL="5530291" algn="l" defTabSz="3686861" rtl="0" eaLnBrk="1" latinLnBrk="0" hangingPunct="1">
      <a:defRPr sz="4838" kern="1200">
        <a:solidFill>
          <a:schemeClr val="tx1"/>
        </a:solidFill>
        <a:latin typeface="+mn-lt"/>
        <a:ea typeface="+mn-ea"/>
        <a:cs typeface="+mn-cs"/>
      </a:defRPr>
    </a:lvl4pPr>
    <a:lvl5pPr marL="7373722" algn="l" defTabSz="3686861" rtl="0" eaLnBrk="1" latinLnBrk="0" hangingPunct="1">
      <a:defRPr sz="4838" kern="1200">
        <a:solidFill>
          <a:schemeClr val="tx1"/>
        </a:solidFill>
        <a:latin typeface="+mn-lt"/>
        <a:ea typeface="+mn-ea"/>
        <a:cs typeface="+mn-cs"/>
      </a:defRPr>
    </a:lvl5pPr>
    <a:lvl6pPr marL="9217152" algn="l" defTabSz="3686861" rtl="0" eaLnBrk="1" latinLnBrk="0" hangingPunct="1">
      <a:defRPr sz="4838" kern="1200">
        <a:solidFill>
          <a:schemeClr val="tx1"/>
        </a:solidFill>
        <a:latin typeface="+mn-lt"/>
        <a:ea typeface="+mn-ea"/>
        <a:cs typeface="+mn-cs"/>
      </a:defRPr>
    </a:lvl6pPr>
    <a:lvl7pPr marL="11060582" algn="l" defTabSz="3686861" rtl="0" eaLnBrk="1" latinLnBrk="0" hangingPunct="1">
      <a:defRPr sz="4838" kern="1200">
        <a:solidFill>
          <a:schemeClr val="tx1"/>
        </a:solidFill>
        <a:latin typeface="+mn-lt"/>
        <a:ea typeface="+mn-ea"/>
        <a:cs typeface="+mn-cs"/>
      </a:defRPr>
    </a:lvl7pPr>
    <a:lvl8pPr marL="12904013" algn="l" defTabSz="3686861" rtl="0" eaLnBrk="1" latinLnBrk="0" hangingPunct="1">
      <a:defRPr sz="4838" kern="1200">
        <a:solidFill>
          <a:schemeClr val="tx1"/>
        </a:solidFill>
        <a:latin typeface="+mn-lt"/>
        <a:ea typeface="+mn-ea"/>
        <a:cs typeface="+mn-cs"/>
      </a:defRPr>
    </a:lvl8pPr>
    <a:lvl9pPr marL="14747443" algn="l" defTabSz="3686861" rtl="0" eaLnBrk="1" latinLnBrk="0" hangingPunct="1">
      <a:defRPr sz="483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0438A2-0538-3344-A49D-D09FDFBD1772}" type="slidenum">
              <a:rPr lang="en-US" smtClean="0"/>
              <a:t>1</a:t>
            </a:fld>
            <a:endParaRPr lang="en-US"/>
          </a:p>
        </p:txBody>
      </p:sp>
    </p:spTree>
    <p:extLst>
      <p:ext uri="{BB962C8B-B14F-4D97-AF65-F5344CB8AC3E}">
        <p14:creationId xmlns:p14="http://schemas.microsoft.com/office/powerpoint/2010/main" val="22793627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endParaRPr lang="en-US" dirty="0"/>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D1A8FEC-6953-E24B-85C0-39BF0C29C53A}" type="datetimeFigureOut">
              <a:rPr lang="en-US" smtClean="0"/>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563805165"/>
      </p:ext>
    </p:extLst>
  </p:cSld>
  <p:clrMapOvr>
    <a:masterClrMapping/>
  </p:clrMapOvr>
  <p:extLst>
    <p:ext uri="{DCECCB84-F9BA-43D5-87BE-67443E8EF086}">
      <p15:sldGuideLst xmlns:p15="http://schemas.microsoft.com/office/powerpoint/2012/main">
        <p15:guide id="1" orient="horz" pos="10368" userDrawn="1">
          <p15:clr>
            <a:srgbClr val="FBAE40"/>
          </p15:clr>
        </p15:guide>
        <p15:guide id="2" pos="1382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1A8FEC-6953-E24B-85C0-39BF0C29C53A}" type="datetimeFigureOut">
              <a:rPr lang="en-US" smtClean="0"/>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3600086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endParaRPr lang="en-US" dirty="0"/>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tint val="82000"/>
                  </a:schemeClr>
                </a:solidFill>
              </a:defRPr>
            </a:lvl1pPr>
            <a:lvl2pPr marL="2194560" indent="0">
              <a:buNone/>
              <a:defRPr sz="9600">
                <a:solidFill>
                  <a:schemeClr val="tx1">
                    <a:tint val="82000"/>
                  </a:schemeClr>
                </a:solidFill>
              </a:defRPr>
            </a:lvl2pPr>
            <a:lvl3pPr marL="4389120" indent="0">
              <a:buNone/>
              <a:defRPr sz="8640">
                <a:solidFill>
                  <a:schemeClr val="tx1">
                    <a:tint val="82000"/>
                  </a:schemeClr>
                </a:solidFill>
              </a:defRPr>
            </a:lvl3pPr>
            <a:lvl4pPr marL="6583680" indent="0">
              <a:buNone/>
              <a:defRPr sz="7680">
                <a:solidFill>
                  <a:schemeClr val="tx1">
                    <a:tint val="82000"/>
                  </a:schemeClr>
                </a:solidFill>
              </a:defRPr>
            </a:lvl4pPr>
            <a:lvl5pPr marL="8778240" indent="0">
              <a:buNone/>
              <a:defRPr sz="7680">
                <a:solidFill>
                  <a:schemeClr val="tx1">
                    <a:tint val="82000"/>
                  </a:schemeClr>
                </a:solidFill>
              </a:defRPr>
            </a:lvl5pPr>
            <a:lvl6pPr marL="10972800" indent="0">
              <a:buNone/>
              <a:defRPr sz="7680">
                <a:solidFill>
                  <a:schemeClr val="tx1">
                    <a:tint val="82000"/>
                  </a:schemeClr>
                </a:solidFill>
              </a:defRPr>
            </a:lvl6pPr>
            <a:lvl7pPr marL="13167360" indent="0">
              <a:buNone/>
              <a:defRPr sz="7680">
                <a:solidFill>
                  <a:schemeClr val="tx1">
                    <a:tint val="82000"/>
                  </a:schemeClr>
                </a:solidFill>
              </a:defRPr>
            </a:lvl7pPr>
            <a:lvl8pPr marL="15361920" indent="0">
              <a:buNone/>
              <a:defRPr sz="7680">
                <a:solidFill>
                  <a:schemeClr val="tx1">
                    <a:tint val="82000"/>
                  </a:schemeClr>
                </a:solidFill>
              </a:defRPr>
            </a:lvl8pPr>
            <a:lvl9pPr marL="17556480" indent="0">
              <a:buNone/>
              <a:defRPr sz="768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1A8FEC-6953-E24B-85C0-39BF0C29C53A}" type="datetimeFigureOut">
              <a:rPr lang="en-US" smtClean="0"/>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739995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1A8FEC-6953-E24B-85C0-39BF0C29C53A}" type="datetimeFigureOut">
              <a:rPr lang="en-US" smtClean="0"/>
              <a:t>8/4/26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1869726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D1A8FEC-6953-E24B-85C0-39BF0C29C53A}" type="datetimeFigureOut">
              <a:rPr lang="en-US" smtClean="0"/>
              <a:t>8/4/26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3838739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1A8FEC-6953-E24B-85C0-39BF0C29C53A}" type="datetimeFigureOut">
              <a:rPr lang="en-US" smtClean="0"/>
              <a:t>8/4/26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4240185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1A8FEC-6953-E24B-85C0-39BF0C29C53A}" type="datetimeFigureOut">
              <a:rPr lang="en-US" smtClean="0"/>
              <a:t>8/4/26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1491623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5D1A8FEC-6953-E24B-85C0-39BF0C29C53A}" type="datetimeFigureOut">
              <a:rPr lang="en-US" smtClean="0"/>
              <a:t>8/4/26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981643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5D1A8FEC-6953-E24B-85C0-39BF0C29C53A}" type="datetimeFigureOut">
              <a:rPr lang="en-US" smtClean="0"/>
              <a:t>8/4/26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903266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1A8FEC-6953-E24B-85C0-39BF0C29C53A}" type="datetimeFigureOut">
              <a:rPr lang="en-US" smtClean="0"/>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164756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1A8FEC-6953-E24B-85C0-39BF0C29C53A}" type="datetimeFigureOut">
              <a:rPr lang="en-US" smtClean="0"/>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162D08-6C9A-4848-A8AB-6E06506B9663}" type="slidenum">
              <a:rPr lang="en-US" smtClean="0"/>
              <a:t>‹#›</a:t>
            </a:fld>
            <a:endParaRPr lang="en-US"/>
          </a:p>
        </p:txBody>
      </p:sp>
    </p:spTree>
    <p:extLst>
      <p:ext uri="{BB962C8B-B14F-4D97-AF65-F5344CB8AC3E}">
        <p14:creationId xmlns:p14="http://schemas.microsoft.com/office/powerpoint/2010/main" val="305850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82000"/>
                  </a:schemeClr>
                </a:solidFill>
              </a:defRPr>
            </a:lvl1pPr>
          </a:lstStyle>
          <a:p>
            <a:fld id="{5D1A8FEC-6953-E24B-85C0-39BF0C29C53A}" type="datetimeFigureOut">
              <a:rPr lang="en-US" smtClean="0"/>
              <a:t>8/4/26</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82000"/>
                  </a:schemeClr>
                </a:solidFill>
              </a:defRPr>
            </a:lvl1pPr>
          </a:lstStyle>
          <a:p>
            <a:fld id="{F6162D08-6C9A-4848-A8AB-6E06506B9663}" type="slidenum">
              <a:rPr lang="en-US" smtClean="0"/>
              <a:t>‹#›</a:t>
            </a:fld>
            <a:endParaRPr lang="en-US"/>
          </a:p>
        </p:txBody>
      </p:sp>
    </p:spTree>
    <p:extLst>
      <p:ext uri="{BB962C8B-B14F-4D97-AF65-F5344CB8AC3E}">
        <p14:creationId xmlns:p14="http://schemas.microsoft.com/office/powerpoint/2010/main" val="17266320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svg"/><Relationship Id="rId18" Type="http://schemas.openxmlformats.org/officeDocument/2006/relationships/image" Target="../media/image15.png"/><Relationship Id="rId3" Type="http://schemas.microsoft.com/office/2018/10/relationships/comments" Target="../comments/modernComment_102_3ACB10B6.xml"/><Relationship Id="rId7" Type="http://schemas.openxmlformats.org/officeDocument/2006/relationships/image" Target="../media/image4.svg"/><Relationship Id="rId12" Type="http://schemas.openxmlformats.org/officeDocument/2006/relationships/image" Target="../media/image9.svg"/><Relationship Id="rId17" Type="http://schemas.openxmlformats.org/officeDocument/2006/relationships/image" Target="../media/image14.png"/><Relationship Id="rId2" Type="http://schemas.openxmlformats.org/officeDocument/2006/relationships/notesSlide" Target="../notesSlides/notesSlide1.xml"/><Relationship Id="rId16" Type="http://schemas.openxmlformats.org/officeDocument/2006/relationships/image" Target="../media/image13.png"/><Relationship Id="rId1" Type="http://schemas.openxmlformats.org/officeDocument/2006/relationships/slideLayout" Target="../slideLayouts/slideLayout1.xml"/><Relationship Id="rId6" Type="http://schemas.openxmlformats.org/officeDocument/2006/relationships/image" Target="../media/image3.svg"/><Relationship Id="rId11" Type="http://schemas.openxmlformats.org/officeDocument/2006/relationships/image" Target="../media/image8.svg"/><Relationship Id="rId5" Type="http://schemas.openxmlformats.org/officeDocument/2006/relationships/image" Target="../media/image2.svg"/><Relationship Id="rId15" Type="http://schemas.openxmlformats.org/officeDocument/2006/relationships/image" Target="../media/image12.png"/><Relationship Id="rId10" Type="http://schemas.openxmlformats.org/officeDocument/2006/relationships/image" Target="../media/image7.png"/><Relationship Id="rId19" Type="http://schemas.openxmlformats.org/officeDocument/2006/relationships/image" Target="../media/image16.png"/><Relationship Id="rId4" Type="http://schemas.openxmlformats.org/officeDocument/2006/relationships/image" Target="../media/image1.svg"/><Relationship Id="rId9" Type="http://schemas.openxmlformats.org/officeDocument/2006/relationships/image" Target="../media/image6.png"/><Relationship Id="rId1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Rounded Rectangle 235">
            <a:extLst>
              <a:ext uri="{FF2B5EF4-FFF2-40B4-BE49-F238E27FC236}">
                <a16:creationId xmlns:a16="http://schemas.microsoft.com/office/drawing/2014/main" id="{AF5714AB-DDAF-B627-5552-ABAFA2A6840F}"/>
              </a:ext>
            </a:extLst>
          </p:cNvPr>
          <p:cNvSpPr>
            <a:spLocks noGrp="1" noRot="1" noMove="1" noResize="1" noEditPoints="1" noAdjustHandles="1" noChangeArrowheads="1" noChangeShapeType="1"/>
          </p:cNvSpPr>
          <p:nvPr/>
        </p:nvSpPr>
        <p:spPr>
          <a:xfrm>
            <a:off x="914397" y="16991782"/>
            <a:ext cx="13258798" cy="15012218"/>
          </a:xfrm>
          <a:prstGeom prst="roundRect">
            <a:avLst>
              <a:gd name="adj" fmla="val 3793"/>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Rounded Rectangle 234">
            <a:extLst>
              <a:ext uri="{FF2B5EF4-FFF2-40B4-BE49-F238E27FC236}">
                <a16:creationId xmlns:a16="http://schemas.microsoft.com/office/drawing/2014/main" id="{67D5ADF2-18F8-83F1-772C-F9B786C87AFC}"/>
              </a:ext>
            </a:extLst>
          </p:cNvPr>
          <p:cNvSpPr>
            <a:spLocks/>
          </p:cNvSpPr>
          <p:nvPr/>
        </p:nvSpPr>
        <p:spPr>
          <a:xfrm>
            <a:off x="29717993" y="4116148"/>
            <a:ext cx="13315960" cy="10903284"/>
          </a:xfrm>
          <a:prstGeom prst="roundRect">
            <a:avLst>
              <a:gd name="adj" fmla="val 3793"/>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4" name="Rounded Rectangle 223">
            <a:extLst>
              <a:ext uri="{FF2B5EF4-FFF2-40B4-BE49-F238E27FC236}">
                <a16:creationId xmlns:a16="http://schemas.microsoft.com/office/drawing/2014/main" id="{BCF01AE3-EE0E-D8B2-AE26-0F50ACD28B6C}"/>
              </a:ext>
            </a:extLst>
          </p:cNvPr>
          <p:cNvSpPr>
            <a:spLocks/>
          </p:cNvSpPr>
          <p:nvPr/>
        </p:nvSpPr>
        <p:spPr>
          <a:xfrm>
            <a:off x="14845552" y="16991782"/>
            <a:ext cx="14200094" cy="15012218"/>
          </a:xfrm>
          <a:prstGeom prst="roundRect">
            <a:avLst>
              <a:gd name="adj" fmla="val 3793"/>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47DB56C9-55B7-9BDE-0B69-D86D440E9352}"/>
              </a:ext>
            </a:extLst>
          </p:cNvPr>
          <p:cNvSpPr txBox="1"/>
          <p:nvPr/>
        </p:nvSpPr>
        <p:spPr>
          <a:xfrm>
            <a:off x="-309848" y="837840"/>
            <a:ext cx="38461950" cy="1323439"/>
          </a:xfrm>
          <a:prstGeom prst="rect">
            <a:avLst/>
          </a:prstGeom>
          <a:noFill/>
        </p:spPr>
        <p:txBody>
          <a:bodyPr wrap="square" rtlCol="0">
            <a:spAutoFit/>
          </a:bodyPr>
          <a:lstStyle/>
          <a:p>
            <a:pPr algn="ctr"/>
            <a:r>
              <a:rPr lang="en-US" sz="8000" dirty="0"/>
              <a:t>Biology In Silico: LLM Workflow Translating Signaling Diagrams to Simmune Models</a:t>
            </a:r>
          </a:p>
        </p:txBody>
      </p:sp>
      <p:sp>
        <p:nvSpPr>
          <p:cNvPr id="168" name="Rounded Rectangle 167">
            <a:extLst>
              <a:ext uri="{FF2B5EF4-FFF2-40B4-BE49-F238E27FC236}">
                <a16:creationId xmlns:a16="http://schemas.microsoft.com/office/drawing/2014/main" id="{28802E8B-8F24-7836-8EFB-2E2DA71D986F}"/>
              </a:ext>
            </a:extLst>
          </p:cNvPr>
          <p:cNvSpPr>
            <a:spLocks/>
          </p:cNvSpPr>
          <p:nvPr/>
        </p:nvSpPr>
        <p:spPr>
          <a:xfrm>
            <a:off x="914402" y="4114800"/>
            <a:ext cx="13258798" cy="12344399"/>
          </a:xfrm>
          <a:prstGeom prst="roundRect">
            <a:avLst>
              <a:gd name="adj" fmla="val 3793"/>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TextBox 174">
            <a:extLst>
              <a:ext uri="{FF2B5EF4-FFF2-40B4-BE49-F238E27FC236}">
                <a16:creationId xmlns:a16="http://schemas.microsoft.com/office/drawing/2014/main" id="{497BA477-C775-1830-9149-9558E85E9681}"/>
              </a:ext>
            </a:extLst>
          </p:cNvPr>
          <p:cNvSpPr txBox="1"/>
          <p:nvPr/>
        </p:nvSpPr>
        <p:spPr>
          <a:xfrm>
            <a:off x="914398" y="2244462"/>
            <a:ext cx="36202225" cy="1446550"/>
          </a:xfrm>
          <a:prstGeom prst="rect">
            <a:avLst/>
          </a:prstGeom>
          <a:noFill/>
        </p:spPr>
        <p:txBody>
          <a:bodyPr wrap="square" rtlCol="0">
            <a:spAutoFit/>
          </a:bodyPr>
          <a:lstStyle/>
          <a:p>
            <a:pPr algn="ctr"/>
            <a:r>
              <a:rPr lang="en-US" sz="4400" dirty="0"/>
              <a:t>Ethan Zhu, Fengkai Zhang, Martin Meier-Schellersheim</a:t>
            </a:r>
          </a:p>
          <a:p>
            <a:pPr algn="ctr"/>
            <a:r>
              <a:rPr lang="en-US" sz="4400" dirty="0"/>
              <a:t>Laboratory of Immune System Biology (LISB), National Institute of Allergy and Infectious Diseases (NIAID), NIH, Bethesda, MD, USA</a:t>
            </a:r>
          </a:p>
        </p:txBody>
      </p:sp>
      <p:sp>
        <p:nvSpPr>
          <p:cNvPr id="176" name="Rounded Rectangle 175">
            <a:extLst>
              <a:ext uri="{FF2B5EF4-FFF2-40B4-BE49-F238E27FC236}">
                <a16:creationId xmlns:a16="http://schemas.microsoft.com/office/drawing/2014/main" id="{D0182C56-7113-737C-E517-2BB5FC80F952}"/>
              </a:ext>
            </a:extLst>
          </p:cNvPr>
          <p:cNvSpPr>
            <a:spLocks noGrp="1" noRot="1" noMove="1" noResize="1" noEditPoints="1" noAdjustHandles="1" noChangeArrowheads="1" noChangeShapeType="1"/>
          </p:cNvSpPr>
          <p:nvPr/>
        </p:nvSpPr>
        <p:spPr>
          <a:xfrm>
            <a:off x="14845553" y="4114799"/>
            <a:ext cx="14200094" cy="12364206"/>
          </a:xfrm>
          <a:prstGeom prst="roundRect">
            <a:avLst>
              <a:gd name="adj" fmla="val 3793"/>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7" name="Rounded Rectangle 176">
            <a:extLst>
              <a:ext uri="{FF2B5EF4-FFF2-40B4-BE49-F238E27FC236}">
                <a16:creationId xmlns:a16="http://schemas.microsoft.com/office/drawing/2014/main" id="{00A1EFE5-7D09-3EA4-3D16-6D9C1F12C272}"/>
              </a:ext>
            </a:extLst>
          </p:cNvPr>
          <p:cNvSpPr>
            <a:spLocks/>
          </p:cNvSpPr>
          <p:nvPr/>
        </p:nvSpPr>
        <p:spPr>
          <a:xfrm>
            <a:off x="29718002" y="24439260"/>
            <a:ext cx="13258799" cy="7564740"/>
          </a:xfrm>
          <a:prstGeom prst="roundRect">
            <a:avLst>
              <a:gd name="adj" fmla="val 3793"/>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0" name="Rounded Rectangle 249">
            <a:extLst>
              <a:ext uri="{FF2B5EF4-FFF2-40B4-BE49-F238E27FC236}">
                <a16:creationId xmlns:a16="http://schemas.microsoft.com/office/drawing/2014/main" id="{8470167D-1E47-DDD7-F880-03E1252A0443}"/>
              </a:ext>
            </a:extLst>
          </p:cNvPr>
          <p:cNvSpPr>
            <a:spLocks/>
          </p:cNvSpPr>
          <p:nvPr/>
        </p:nvSpPr>
        <p:spPr>
          <a:xfrm>
            <a:off x="914395" y="16990664"/>
            <a:ext cx="13258800" cy="923330"/>
          </a:xfrm>
          <a:prstGeom prst="roundRect">
            <a:avLst>
              <a:gd name="adj" fmla="val 379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9" name="Graphic 178">
            <a:extLst>
              <a:ext uri="{FF2B5EF4-FFF2-40B4-BE49-F238E27FC236}">
                <a16:creationId xmlns:a16="http://schemas.microsoft.com/office/drawing/2014/main" id="{299D5E43-7772-B493-40AA-22016321779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116624" y="1513415"/>
            <a:ext cx="5860167" cy="1538294"/>
          </a:xfrm>
          <a:prstGeom prst="rect">
            <a:avLst/>
          </a:prstGeom>
        </p:spPr>
      </p:pic>
      <p:sp>
        <p:nvSpPr>
          <p:cNvPr id="249" name="Rounded Rectangle 248">
            <a:extLst>
              <a:ext uri="{FF2B5EF4-FFF2-40B4-BE49-F238E27FC236}">
                <a16:creationId xmlns:a16="http://schemas.microsoft.com/office/drawing/2014/main" id="{42E38A18-E3CD-0D8D-ECC0-A8B2FC788E46}"/>
              </a:ext>
            </a:extLst>
          </p:cNvPr>
          <p:cNvSpPr>
            <a:spLocks/>
          </p:cNvSpPr>
          <p:nvPr/>
        </p:nvSpPr>
        <p:spPr>
          <a:xfrm>
            <a:off x="914395" y="4104210"/>
            <a:ext cx="13258798" cy="923330"/>
          </a:xfrm>
          <a:prstGeom prst="roundRect">
            <a:avLst>
              <a:gd name="adj" fmla="val 379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2" name="TextBox 181">
            <a:extLst>
              <a:ext uri="{FF2B5EF4-FFF2-40B4-BE49-F238E27FC236}">
                <a16:creationId xmlns:a16="http://schemas.microsoft.com/office/drawing/2014/main" id="{29458E23-41AD-732B-BA4F-912385E62971}"/>
              </a:ext>
            </a:extLst>
          </p:cNvPr>
          <p:cNvSpPr txBox="1"/>
          <p:nvPr/>
        </p:nvSpPr>
        <p:spPr>
          <a:xfrm>
            <a:off x="857247" y="4153892"/>
            <a:ext cx="13258798" cy="923330"/>
          </a:xfrm>
          <a:prstGeom prst="rect">
            <a:avLst/>
          </a:prstGeom>
          <a:noFill/>
        </p:spPr>
        <p:txBody>
          <a:bodyPr wrap="square" rtlCol="0">
            <a:spAutoFit/>
          </a:bodyPr>
          <a:lstStyle/>
          <a:p>
            <a:pPr algn="ctr"/>
            <a:r>
              <a:rPr lang="en-US" sz="5400" dirty="0"/>
              <a:t>Introduction &amp; Background</a:t>
            </a:r>
          </a:p>
        </p:txBody>
      </p:sp>
      <p:sp>
        <p:nvSpPr>
          <p:cNvPr id="183" name="TextBox 182">
            <a:extLst>
              <a:ext uri="{FF2B5EF4-FFF2-40B4-BE49-F238E27FC236}">
                <a16:creationId xmlns:a16="http://schemas.microsoft.com/office/drawing/2014/main" id="{E08056B0-479D-FE2D-05E0-DD36BD14D64F}"/>
              </a:ext>
            </a:extLst>
          </p:cNvPr>
          <p:cNvSpPr txBox="1"/>
          <p:nvPr/>
        </p:nvSpPr>
        <p:spPr>
          <a:xfrm>
            <a:off x="936625" y="17041464"/>
            <a:ext cx="13258798" cy="923330"/>
          </a:xfrm>
          <a:prstGeom prst="rect">
            <a:avLst/>
          </a:prstGeom>
          <a:noFill/>
        </p:spPr>
        <p:txBody>
          <a:bodyPr wrap="square" rtlCol="0">
            <a:spAutoFit/>
          </a:bodyPr>
          <a:lstStyle/>
          <a:p>
            <a:pPr algn="ctr"/>
            <a:r>
              <a:rPr lang="en-US" sz="5400" dirty="0"/>
              <a:t>Methods</a:t>
            </a:r>
          </a:p>
        </p:txBody>
      </p:sp>
      <p:sp>
        <p:nvSpPr>
          <p:cNvPr id="246" name="Rounded Rectangle 245">
            <a:extLst>
              <a:ext uri="{FF2B5EF4-FFF2-40B4-BE49-F238E27FC236}">
                <a16:creationId xmlns:a16="http://schemas.microsoft.com/office/drawing/2014/main" id="{6329909A-6017-43FC-6385-934BDDB1D807}"/>
              </a:ext>
            </a:extLst>
          </p:cNvPr>
          <p:cNvSpPr>
            <a:spLocks/>
          </p:cNvSpPr>
          <p:nvPr/>
        </p:nvSpPr>
        <p:spPr>
          <a:xfrm>
            <a:off x="29717992" y="24316193"/>
            <a:ext cx="13258799" cy="944436"/>
          </a:xfrm>
          <a:prstGeom prst="roundRect">
            <a:avLst>
              <a:gd name="adj" fmla="val 379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3" name="Rounded Rectangle 252">
            <a:extLst>
              <a:ext uri="{FF2B5EF4-FFF2-40B4-BE49-F238E27FC236}">
                <a16:creationId xmlns:a16="http://schemas.microsoft.com/office/drawing/2014/main" id="{B745CB36-1079-BAEC-47B3-0F957C00870B}"/>
              </a:ext>
            </a:extLst>
          </p:cNvPr>
          <p:cNvSpPr>
            <a:spLocks/>
          </p:cNvSpPr>
          <p:nvPr/>
        </p:nvSpPr>
        <p:spPr>
          <a:xfrm>
            <a:off x="14845547" y="16985083"/>
            <a:ext cx="14200097" cy="923330"/>
          </a:xfrm>
          <a:prstGeom prst="roundRect">
            <a:avLst>
              <a:gd name="adj" fmla="val 379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8" name="Rounded Rectangle 247">
            <a:extLst>
              <a:ext uri="{FF2B5EF4-FFF2-40B4-BE49-F238E27FC236}">
                <a16:creationId xmlns:a16="http://schemas.microsoft.com/office/drawing/2014/main" id="{34DBFCBE-9A05-F731-6940-59C62680FE91}"/>
              </a:ext>
            </a:extLst>
          </p:cNvPr>
          <p:cNvSpPr>
            <a:spLocks/>
          </p:cNvSpPr>
          <p:nvPr/>
        </p:nvSpPr>
        <p:spPr>
          <a:xfrm>
            <a:off x="14845550" y="4103092"/>
            <a:ext cx="14200094" cy="923330"/>
          </a:xfrm>
          <a:prstGeom prst="roundRect">
            <a:avLst>
              <a:gd name="adj" fmla="val 379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7" name="TextBox 186">
            <a:extLst>
              <a:ext uri="{FF2B5EF4-FFF2-40B4-BE49-F238E27FC236}">
                <a16:creationId xmlns:a16="http://schemas.microsoft.com/office/drawing/2014/main" id="{60CB46BF-12F2-D1DF-8633-28F59A92650F}"/>
              </a:ext>
            </a:extLst>
          </p:cNvPr>
          <p:cNvSpPr txBox="1"/>
          <p:nvPr/>
        </p:nvSpPr>
        <p:spPr>
          <a:xfrm>
            <a:off x="29717993" y="24382431"/>
            <a:ext cx="13258798" cy="923330"/>
          </a:xfrm>
          <a:prstGeom prst="rect">
            <a:avLst/>
          </a:prstGeom>
          <a:noFill/>
        </p:spPr>
        <p:txBody>
          <a:bodyPr wrap="square" rtlCol="0">
            <a:spAutoFit/>
          </a:bodyPr>
          <a:lstStyle/>
          <a:p>
            <a:pPr algn="ctr"/>
            <a:r>
              <a:rPr lang="en-US" sz="5400" dirty="0"/>
              <a:t>Acknowledgements &amp; References</a:t>
            </a:r>
          </a:p>
        </p:txBody>
      </p:sp>
      <p:sp>
        <p:nvSpPr>
          <p:cNvPr id="189" name="TextBox 188">
            <a:extLst>
              <a:ext uri="{FF2B5EF4-FFF2-40B4-BE49-F238E27FC236}">
                <a16:creationId xmlns:a16="http://schemas.microsoft.com/office/drawing/2014/main" id="{E2054EBE-727F-3162-F9B6-68A5AED963B7}"/>
              </a:ext>
            </a:extLst>
          </p:cNvPr>
          <p:cNvSpPr txBox="1"/>
          <p:nvPr/>
        </p:nvSpPr>
        <p:spPr>
          <a:xfrm>
            <a:off x="15316201" y="4157424"/>
            <a:ext cx="13258798" cy="923330"/>
          </a:xfrm>
          <a:prstGeom prst="rect">
            <a:avLst/>
          </a:prstGeom>
          <a:noFill/>
        </p:spPr>
        <p:txBody>
          <a:bodyPr wrap="square" rtlCol="0">
            <a:spAutoFit/>
          </a:bodyPr>
          <a:lstStyle/>
          <a:p>
            <a:pPr algn="ctr"/>
            <a:r>
              <a:rPr lang="en-US" sz="5400" dirty="0"/>
              <a:t>Wizard &amp; Simmune Interaction Diagram</a:t>
            </a:r>
          </a:p>
        </p:txBody>
      </p:sp>
      <p:sp>
        <p:nvSpPr>
          <p:cNvPr id="190" name="TextBox 189">
            <a:extLst>
              <a:ext uri="{FF2B5EF4-FFF2-40B4-BE49-F238E27FC236}">
                <a16:creationId xmlns:a16="http://schemas.microsoft.com/office/drawing/2014/main" id="{CDC89141-F6D5-0F8E-F4FD-577F65F2EBCD}"/>
              </a:ext>
            </a:extLst>
          </p:cNvPr>
          <p:cNvSpPr txBox="1"/>
          <p:nvPr/>
        </p:nvSpPr>
        <p:spPr>
          <a:xfrm>
            <a:off x="15193941" y="17051087"/>
            <a:ext cx="13258798" cy="923330"/>
          </a:xfrm>
          <a:prstGeom prst="rect">
            <a:avLst/>
          </a:prstGeom>
          <a:noFill/>
        </p:spPr>
        <p:txBody>
          <a:bodyPr wrap="square" rtlCol="0">
            <a:spAutoFit/>
          </a:bodyPr>
          <a:lstStyle/>
          <a:p>
            <a:pPr algn="ctr"/>
            <a:r>
              <a:rPr lang="en-US" sz="5400" dirty="0"/>
              <a:t>SBML Generation Workflow (IL-6 Pathway)</a:t>
            </a:r>
          </a:p>
        </p:txBody>
      </p:sp>
      <p:sp>
        <p:nvSpPr>
          <p:cNvPr id="231" name="Bent-Up Arrow 230">
            <a:extLst>
              <a:ext uri="{FF2B5EF4-FFF2-40B4-BE49-F238E27FC236}">
                <a16:creationId xmlns:a16="http://schemas.microsoft.com/office/drawing/2014/main" id="{7D6AE581-8680-49C3-BDE4-BC1DEABABDDC}"/>
              </a:ext>
            </a:extLst>
          </p:cNvPr>
          <p:cNvSpPr/>
          <p:nvPr/>
        </p:nvSpPr>
        <p:spPr>
          <a:xfrm rot="5400000">
            <a:off x="15202464" y="27611053"/>
            <a:ext cx="3373991" cy="1742263"/>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2" name="TextBox 231">
            <a:extLst>
              <a:ext uri="{FF2B5EF4-FFF2-40B4-BE49-F238E27FC236}">
                <a16:creationId xmlns:a16="http://schemas.microsoft.com/office/drawing/2014/main" id="{95E00801-7227-F640-B0AD-7400D4B95A7C}"/>
              </a:ext>
            </a:extLst>
          </p:cNvPr>
          <p:cNvSpPr txBox="1"/>
          <p:nvPr/>
        </p:nvSpPr>
        <p:spPr>
          <a:xfrm>
            <a:off x="1314450" y="5310174"/>
            <a:ext cx="12553948" cy="10988643"/>
          </a:xfrm>
          <a:prstGeom prst="rect">
            <a:avLst/>
          </a:prstGeom>
          <a:noFill/>
        </p:spPr>
        <p:txBody>
          <a:bodyPr wrap="square" rtlCol="0">
            <a:noAutofit/>
          </a:bodyPr>
          <a:lstStyle/>
          <a:p>
            <a:pPr marL="457200" indent="-457200">
              <a:lnSpc>
                <a:spcPct val="110000"/>
              </a:lnSpc>
              <a:buFont typeface="Arial" panose="020B0604020202020204" pitchFamily="34" charset="0"/>
              <a:buChar char="•"/>
            </a:pPr>
            <a:r>
              <a:rPr lang="en-US" sz="3300" dirty="0"/>
              <a:t>Rule-based modelling tools, such as Simmune</a:t>
            </a:r>
            <a:r>
              <a:rPr lang="en-US" sz="3300" i="1" dirty="0"/>
              <a:t>,</a:t>
            </a:r>
            <a:r>
              <a:rPr lang="en-US" sz="3300" dirty="0"/>
              <a:t> allow users to create models of cellular signaling pathways according to their bimolecular interactions. These tools then assemble the resulting reaction networks and provide functionalities to explore the pathways via simulations.</a:t>
            </a:r>
          </a:p>
          <a:p>
            <a:pPr>
              <a:lnSpc>
                <a:spcPct val="110000"/>
              </a:lnSpc>
            </a:pPr>
            <a:endParaRPr lang="en-US" sz="1400" dirty="0"/>
          </a:p>
          <a:p>
            <a:pPr marL="457200" indent="-457200">
              <a:lnSpc>
                <a:spcPct val="110000"/>
              </a:lnSpc>
              <a:buFont typeface="Arial" panose="020B0604020202020204" pitchFamily="34" charset="0"/>
              <a:buChar char="•"/>
            </a:pPr>
            <a:r>
              <a:rPr lang="en-US" sz="3300" dirty="0"/>
              <a:t>The Systems Biology Markup Language (SBML) and its Multistate, Multicomponent, and Multicompartment Species (Multi) can encode such model interactions and information. </a:t>
            </a:r>
          </a:p>
          <a:p>
            <a:pPr marL="457200" indent="-457200">
              <a:lnSpc>
                <a:spcPct val="110000"/>
              </a:lnSpc>
              <a:buFont typeface="Arial" panose="020B0604020202020204" pitchFamily="34" charset="0"/>
              <a:buChar char="•"/>
            </a:pPr>
            <a:endParaRPr lang="en-US" sz="1400" dirty="0"/>
          </a:p>
          <a:p>
            <a:pPr marL="457200" indent="-457200">
              <a:lnSpc>
                <a:spcPct val="110000"/>
              </a:lnSpc>
              <a:buFont typeface="Arial" panose="020B0604020202020204" pitchFamily="34" charset="0"/>
              <a:buChar char="•"/>
            </a:pPr>
            <a:r>
              <a:rPr lang="en-US" sz="3300" dirty="0"/>
              <a:t>However, manually creating these models can prove to be time-consuming. Given current advancements of AI, large language models (LLMs) may prove to be a promising option, as they are able to take in multimodal input and generate large amounts of text.</a:t>
            </a:r>
          </a:p>
          <a:p>
            <a:pPr>
              <a:lnSpc>
                <a:spcPct val="110000"/>
              </a:lnSpc>
            </a:pPr>
            <a:endParaRPr lang="en-US" sz="1400" dirty="0"/>
          </a:p>
          <a:p>
            <a:pPr marL="457200" indent="-457200">
              <a:lnSpc>
                <a:spcPct val="110000"/>
              </a:lnSpc>
              <a:buFont typeface="Arial" panose="020B0604020202020204" pitchFamily="34" charset="0"/>
              <a:buChar char="•"/>
            </a:pPr>
            <a:r>
              <a:rPr lang="en-US" sz="3300" dirty="0"/>
              <a:t>Thus, we describe the </a:t>
            </a:r>
            <a:r>
              <a:rPr lang="en-US" sz="3300" i="1" dirty="0"/>
              <a:t>SBML Multi Generation Wizard </a:t>
            </a:r>
            <a:r>
              <a:rPr lang="en-US" sz="3300" dirty="0"/>
              <a:t>for:</a:t>
            </a:r>
          </a:p>
          <a:p>
            <a:pPr marL="971550" lvl="1" indent="-514350">
              <a:lnSpc>
                <a:spcPct val="110000"/>
              </a:lnSpc>
              <a:buFont typeface="+mj-lt"/>
              <a:buAutoNum type="arabicPeriod"/>
            </a:pPr>
            <a:r>
              <a:rPr lang="en-US" sz="3300" dirty="0"/>
              <a:t>Uploading photos of cell signaling pathways to generate SBML Multi files which can be imported into Simmune.</a:t>
            </a:r>
          </a:p>
          <a:p>
            <a:pPr marL="971550" lvl="1" indent="-514350">
              <a:lnSpc>
                <a:spcPct val="110000"/>
              </a:lnSpc>
              <a:buFont typeface="+mj-lt"/>
              <a:buAutoNum type="arabicPeriod"/>
            </a:pPr>
            <a:r>
              <a:rPr lang="en-US" sz="3300" dirty="0"/>
              <a:t>Validating and fixing errors in the generated SBML Multi file.</a:t>
            </a:r>
          </a:p>
          <a:p>
            <a:pPr marL="971550" lvl="1" indent="-514350">
              <a:lnSpc>
                <a:spcPct val="110000"/>
              </a:lnSpc>
              <a:buFont typeface="+mj-lt"/>
              <a:buAutoNum type="arabicPeriod"/>
            </a:pPr>
            <a:r>
              <a:rPr lang="en-US" sz="3300" dirty="0"/>
              <a:t>Asking questions about SBML Multi in the wizard’s Q&amp;A mode.</a:t>
            </a:r>
          </a:p>
          <a:p>
            <a:pPr algn="just">
              <a:lnSpc>
                <a:spcPct val="110000"/>
              </a:lnSpc>
            </a:pPr>
            <a:endParaRPr lang="en-US" sz="3200" dirty="0"/>
          </a:p>
          <a:p>
            <a:pPr>
              <a:lnSpc>
                <a:spcPct val="110000"/>
              </a:lnSpc>
            </a:pPr>
            <a:r>
              <a:rPr lang="en-US" sz="3200" dirty="0"/>
              <a:t> </a:t>
            </a:r>
          </a:p>
          <a:p>
            <a:pPr algn="just">
              <a:lnSpc>
                <a:spcPct val="110000"/>
              </a:lnSpc>
            </a:pPr>
            <a:endParaRPr lang="en-US" sz="3200" dirty="0"/>
          </a:p>
        </p:txBody>
      </p:sp>
      <p:sp>
        <p:nvSpPr>
          <p:cNvPr id="233" name="TextBox 232">
            <a:extLst>
              <a:ext uri="{FF2B5EF4-FFF2-40B4-BE49-F238E27FC236}">
                <a16:creationId xmlns:a16="http://schemas.microsoft.com/office/drawing/2014/main" id="{7548E8E7-52B3-77D0-BFE7-E2E56CA3B4A8}"/>
              </a:ext>
            </a:extLst>
          </p:cNvPr>
          <p:cNvSpPr txBox="1"/>
          <p:nvPr/>
        </p:nvSpPr>
        <p:spPr>
          <a:xfrm>
            <a:off x="30141351" y="25374372"/>
            <a:ext cx="12522373" cy="7475123"/>
          </a:xfrm>
          <a:prstGeom prst="rect">
            <a:avLst/>
          </a:prstGeom>
          <a:noFill/>
        </p:spPr>
        <p:txBody>
          <a:bodyPr wrap="square" rtlCol="0">
            <a:spAutoFit/>
          </a:bodyPr>
          <a:lstStyle/>
          <a:p>
            <a:r>
              <a:rPr lang="en-US" sz="2600" dirty="0"/>
              <a:t>I want to give special thanks to Fengkai Zhang, Martin Meier-Schellersheim, and Thorsten Prüstel for their incredible and friendly mentorship and guidance throughout my time here. I would like to thank the LISB and NIAID/NIH for this opportunity and their support. Thank you to NIAID OCICB SEB for their help with GENESIS, the NIH and NIAID IT teams for their help with technology setup, and NIAID RTB Biological Imaging for helping with poster printing.</a:t>
            </a:r>
          </a:p>
          <a:p>
            <a:endParaRPr lang="en-US" sz="900" dirty="0"/>
          </a:p>
          <a:p>
            <a:pPr algn="ctr"/>
            <a:r>
              <a:rPr lang="en-US" sz="2000" dirty="0"/>
              <a:t>Selected references:</a:t>
            </a:r>
          </a:p>
          <a:p>
            <a:pPr marL="342900" indent="-342900">
              <a:buFont typeface="Arial" panose="020B0604020202020204" pitchFamily="34" charset="0"/>
              <a:buChar char="•"/>
            </a:pPr>
            <a:r>
              <a:rPr lang="en-US" sz="2000" dirty="0"/>
              <a:t>Zhang F, Angermann BR, Meier-</a:t>
            </a:r>
            <a:r>
              <a:rPr lang="en-US" sz="2000" dirty="0" err="1"/>
              <a:t>Schellersheim</a:t>
            </a:r>
            <a:r>
              <a:rPr lang="en-US" sz="2000" dirty="0"/>
              <a:t> M. </a:t>
            </a:r>
            <a:r>
              <a:rPr lang="en-US" sz="2000" b="1" dirty="0"/>
              <a:t>The Simmune Modeler visual interface for creating signaling networks based on bi-molecular interactions.</a:t>
            </a:r>
            <a:r>
              <a:rPr lang="en-US" sz="2000" dirty="0"/>
              <a:t> </a:t>
            </a:r>
            <a:r>
              <a:rPr lang="en-US" sz="2000" i="1" dirty="0"/>
              <a:t>Bioinformatics.</a:t>
            </a:r>
            <a:r>
              <a:rPr lang="en-US" sz="2000" dirty="0"/>
              <a:t> 2013;29(9):1229–1230.</a:t>
            </a:r>
          </a:p>
          <a:p>
            <a:pPr marL="342900" indent="-342900">
              <a:buFont typeface="Arial" panose="020B0604020202020204" pitchFamily="34" charset="0"/>
              <a:buChar char="•"/>
            </a:pPr>
            <a:r>
              <a:rPr lang="en-US" sz="2000" dirty="0"/>
              <a:t>Cheng HC, Angermann BR, Zhang F, Meier-</a:t>
            </a:r>
            <a:r>
              <a:rPr lang="en-US" sz="2000" dirty="0" err="1"/>
              <a:t>Schellersheim</a:t>
            </a:r>
            <a:r>
              <a:rPr lang="en-US" sz="2000" dirty="0"/>
              <a:t> M. </a:t>
            </a:r>
            <a:r>
              <a:rPr lang="en-US" sz="2000" b="1" dirty="0"/>
              <a:t>NetworkViewer: visualizing biochemical reaction networks with embedded rendering of molecular interaction rules.</a:t>
            </a:r>
            <a:r>
              <a:rPr lang="en-US" sz="2000" dirty="0"/>
              <a:t> </a:t>
            </a:r>
            <a:r>
              <a:rPr lang="en-US" sz="2000" i="1" dirty="0"/>
              <a:t>BMC Syst Biol.</a:t>
            </a:r>
            <a:r>
              <a:rPr lang="en-US" sz="2000" dirty="0"/>
              <a:t> 2014;8:70.</a:t>
            </a:r>
          </a:p>
          <a:p>
            <a:pPr marL="342900" indent="-342900">
              <a:buFont typeface="Arial" panose="020B0604020202020204" pitchFamily="34" charset="0"/>
              <a:buChar char="•"/>
            </a:pPr>
            <a:r>
              <a:rPr lang="en-US" sz="2000" dirty="0"/>
              <a:t>Angermann BR, </a:t>
            </a:r>
            <a:r>
              <a:rPr lang="en-US" sz="2000" dirty="0" err="1"/>
              <a:t>Klauschen</a:t>
            </a:r>
            <a:r>
              <a:rPr lang="en-US" sz="2000" dirty="0"/>
              <a:t> F, Garcia AD, </a:t>
            </a:r>
            <a:r>
              <a:rPr lang="en-US" sz="2000" i="1" dirty="0"/>
              <a:t>et al.</a:t>
            </a:r>
            <a:r>
              <a:rPr lang="en-US" sz="2000" dirty="0"/>
              <a:t> </a:t>
            </a:r>
            <a:r>
              <a:rPr lang="en-US" sz="2000" b="1" dirty="0"/>
              <a:t>Computational modeling of cellular signaling processes embedded into dynamic spatial contexts.</a:t>
            </a:r>
            <a:r>
              <a:rPr lang="en-US" sz="2000" dirty="0"/>
              <a:t> </a:t>
            </a:r>
            <a:r>
              <a:rPr lang="en-US" sz="2000" i="1" dirty="0"/>
              <a:t>Nat Methods.</a:t>
            </a:r>
            <a:r>
              <a:rPr lang="en-US" sz="2000" dirty="0"/>
              <a:t> 2012;9(3):283–289.</a:t>
            </a:r>
          </a:p>
          <a:p>
            <a:pPr marL="342900" indent="-342900">
              <a:buFont typeface="Arial" panose="020B0604020202020204" pitchFamily="34" charset="0"/>
              <a:buChar char="•"/>
            </a:pPr>
            <a:r>
              <a:rPr lang="en-US" sz="2000" dirty="0"/>
              <a:t>Zhang F, Smith LP, Blinov ML, </a:t>
            </a:r>
            <a:r>
              <a:rPr lang="en-US" sz="2000" i="1" dirty="0"/>
              <a:t>et al.</a:t>
            </a:r>
            <a:r>
              <a:rPr lang="en-US" sz="2000" dirty="0"/>
              <a:t> </a:t>
            </a:r>
            <a:r>
              <a:rPr lang="en-US" sz="2000" b="1" dirty="0"/>
              <a:t>Systems biology markup language (SBML) Level 3 package: multistate, multicomponent and multicompartment species, Version 1 Release 2.</a:t>
            </a:r>
            <a:r>
              <a:rPr lang="en-US" sz="2000" dirty="0"/>
              <a:t> </a:t>
            </a:r>
            <a:r>
              <a:rPr lang="en-US" sz="2000" i="1" dirty="0"/>
              <a:t>J </a:t>
            </a:r>
            <a:r>
              <a:rPr lang="en-US" sz="2000" i="1" dirty="0" err="1"/>
              <a:t>Integr</a:t>
            </a:r>
            <a:r>
              <a:rPr lang="en-US" sz="2000" i="1" dirty="0"/>
              <a:t> </a:t>
            </a:r>
            <a:r>
              <a:rPr lang="en-US" sz="2000" i="1" dirty="0" err="1"/>
              <a:t>Bioinform</a:t>
            </a:r>
            <a:r>
              <a:rPr lang="en-US" sz="2000" i="1" dirty="0"/>
              <a:t>.</a:t>
            </a:r>
            <a:r>
              <a:rPr lang="en-US" sz="2000" dirty="0"/>
              <a:t> 2020;17(2–3):20200015.</a:t>
            </a:r>
          </a:p>
          <a:p>
            <a:pPr marL="342900" indent="-342900">
              <a:buFont typeface="Arial" panose="020B0604020202020204" pitchFamily="34" charset="0"/>
              <a:buChar char="•"/>
            </a:pPr>
            <a:r>
              <a:rPr lang="en-US" sz="2000" dirty="0"/>
              <a:t>Reeh H, Rudolph N, Billing U, </a:t>
            </a:r>
            <a:r>
              <a:rPr lang="en-US" sz="2000" i="1" dirty="0"/>
              <a:t>et al</a:t>
            </a:r>
            <a:r>
              <a:rPr lang="en-US" sz="2000" dirty="0"/>
              <a:t>. </a:t>
            </a:r>
            <a:r>
              <a:rPr lang="en-US" sz="2000" b="1" dirty="0"/>
              <a:t>Response to IL-6 trans- and IL-6 classic </a:t>
            </a:r>
            <a:r>
              <a:rPr lang="en-US" sz="2000" b="1" dirty="0" err="1"/>
              <a:t>signalling</a:t>
            </a:r>
            <a:r>
              <a:rPr lang="en-US" sz="2000" b="1" dirty="0"/>
              <a:t> is determined by the ratio of the IL-6 receptor α to gp130 expression: fusing experimental insights and dynamic modelling. </a:t>
            </a:r>
            <a:r>
              <a:rPr lang="en-US" sz="2000" i="1" dirty="0"/>
              <a:t>Cell Commun Signal. </a:t>
            </a:r>
            <a:r>
              <a:rPr lang="en-US" sz="2000" dirty="0"/>
              <a:t>2019;17(1):46.</a:t>
            </a:r>
            <a:br>
              <a:rPr lang="en-US" sz="2125" dirty="0"/>
            </a:br>
            <a:br>
              <a:rPr lang="en-US" sz="2125" dirty="0"/>
            </a:br>
            <a:endParaRPr lang="en-US" sz="2125" dirty="0"/>
          </a:p>
        </p:txBody>
      </p:sp>
      <p:sp>
        <p:nvSpPr>
          <p:cNvPr id="237" name="TextBox 236">
            <a:extLst>
              <a:ext uri="{FF2B5EF4-FFF2-40B4-BE49-F238E27FC236}">
                <a16:creationId xmlns:a16="http://schemas.microsoft.com/office/drawing/2014/main" id="{B3B7AB90-DA17-4AFA-8AFF-1238DB6775E6}"/>
              </a:ext>
            </a:extLst>
          </p:cNvPr>
          <p:cNvSpPr txBox="1"/>
          <p:nvPr/>
        </p:nvSpPr>
        <p:spPr>
          <a:xfrm>
            <a:off x="15032014" y="18061522"/>
            <a:ext cx="4138418" cy="954107"/>
          </a:xfrm>
          <a:prstGeom prst="rect">
            <a:avLst/>
          </a:prstGeom>
          <a:noFill/>
        </p:spPr>
        <p:txBody>
          <a:bodyPr wrap="square" rtlCol="0">
            <a:spAutoFit/>
          </a:bodyPr>
          <a:lstStyle/>
          <a:p>
            <a:pPr algn="ctr"/>
            <a:r>
              <a:rPr lang="en-US" sz="2800" dirty="0"/>
              <a:t>1. User selects image</a:t>
            </a:r>
          </a:p>
          <a:p>
            <a:pPr algn="ctr"/>
            <a:r>
              <a:rPr lang="en-US" sz="2800" dirty="0"/>
              <a:t>(optional manuscript)</a:t>
            </a:r>
          </a:p>
        </p:txBody>
      </p:sp>
      <p:sp>
        <p:nvSpPr>
          <p:cNvPr id="239" name="TextBox 238">
            <a:extLst>
              <a:ext uri="{FF2B5EF4-FFF2-40B4-BE49-F238E27FC236}">
                <a16:creationId xmlns:a16="http://schemas.microsoft.com/office/drawing/2014/main" id="{D11D0A66-5F5F-B85C-856C-BCE33ACA8E76}"/>
              </a:ext>
            </a:extLst>
          </p:cNvPr>
          <p:cNvSpPr txBox="1"/>
          <p:nvPr/>
        </p:nvSpPr>
        <p:spPr>
          <a:xfrm>
            <a:off x="17890295" y="27185194"/>
            <a:ext cx="7936342" cy="523220"/>
          </a:xfrm>
          <a:prstGeom prst="rect">
            <a:avLst/>
          </a:prstGeom>
          <a:noFill/>
        </p:spPr>
        <p:txBody>
          <a:bodyPr wrap="square" rtlCol="0">
            <a:spAutoFit/>
          </a:bodyPr>
          <a:lstStyle/>
          <a:p>
            <a:pPr algn="ctr"/>
            <a:r>
              <a:rPr lang="en-US" sz="2800" dirty="0"/>
              <a:t>2. SBML Multi file generated</a:t>
            </a:r>
          </a:p>
        </p:txBody>
      </p:sp>
      <p:sp>
        <p:nvSpPr>
          <p:cNvPr id="240" name="TextBox 239">
            <a:extLst>
              <a:ext uri="{FF2B5EF4-FFF2-40B4-BE49-F238E27FC236}">
                <a16:creationId xmlns:a16="http://schemas.microsoft.com/office/drawing/2014/main" id="{5CF6655B-A960-B234-0305-6EBBC7D03D13}"/>
              </a:ext>
            </a:extLst>
          </p:cNvPr>
          <p:cNvSpPr txBox="1"/>
          <p:nvPr/>
        </p:nvSpPr>
        <p:spPr>
          <a:xfrm>
            <a:off x="23258959" y="18546099"/>
            <a:ext cx="5461925" cy="954107"/>
          </a:xfrm>
          <a:prstGeom prst="rect">
            <a:avLst/>
          </a:prstGeom>
          <a:noFill/>
        </p:spPr>
        <p:txBody>
          <a:bodyPr wrap="square" rtlCol="0">
            <a:spAutoFit/>
          </a:bodyPr>
          <a:lstStyle/>
          <a:p>
            <a:pPr algn="ctr"/>
            <a:r>
              <a:rPr lang="en-US" sz="2800" dirty="0"/>
              <a:t>3. Multi file is imported into Simmune for user to interact with</a:t>
            </a:r>
          </a:p>
        </p:txBody>
      </p:sp>
      <p:sp>
        <p:nvSpPr>
          <p:cNvPr id="242" name="TextBox 241">
            <a:extLst>
              <a:ext uri="{FF2B5EF4-FFF2-40B4-BE49-F238E27FC236}">
                <a16:creationId xmlns:a16="http://schemas.microsoft.com/office/drawing/2014/main" id="{FD9E29E8-447E-AB74-0628-9E1840F00AFE}"/>
              </a:ext>
            </a:extLst>
          </p:cNvPr>
          <p:cNvSpPr txBox="1">
            <a:spLocks noGrp="1" noRot="1" noMove="1" noResize="1" noEditPoints="1" noAdjustHandles="1" noChangeArrowheads="1" noChangeShapeType="1"/>
          </p:cNvSpPr>
          <p:nvPr/>
        </p:nvSpPr>
        <p:spPr>
          <a:xfrm>
            <a:off x="1322796" y="18040993"/>
            <a:ext cx="12553948" cy="13734315"/>
          </a:xfrm>
          <a:prstGeom prst="rect">
            <a:avLst/>
          </a:prstGeom>
          <a:noFill/>
        </p:spPr>
        <p:txBody>
          <a:bodyPr wrap="square" rtlCol="0">
            <a:noAutofit/>
          </a:bodyPr>
          <a:lstStyle/>
          <a:p>
            <a:pPr marL="457200" indent="-457200">
              <a:lnSpc>
                <a:spcPts val="4480"/>
              </a:lnSpc>
              <a:buFont typeface="Arial" panose="020B0604020202020204" pitchFamily="34" charset="0"/>
              <a:buChar char="•"/>
            </a:pPr>
            <a:r>
              <a:rPr lang="en-US" sz="3400" dirty="0"/>
              <a:t>A combination of programming languages, libraries, and large-language models were used to make the wizard.</a:t>
            </a:r>
          </a:p>
          <a:p>
            <a:pPr marL="914400" lvl="1" indent="-457200">
              <a:lnSpc>
                <a:spcPts val="4480"/>
              </a:lnSpc>
              <a:buFont typeface="Courier New" panose="02070309020205020404" pitchFamily="49" charset="0"/>
              <a:buChar char="o"/>
            </a:pPr>
            <a:r>
              <a:rPr lang="en-US" sz="3400" dirty="0"/>
              <a:t>Programming languages: Python</a:t>
            </a:r>
          </a:p>
          <a:p>
            <a:pPr marL="914400" lvl="1" indent="-457200">
              <a:lnSpc>
                <a:spcPts val="4480"/>
              </a:lnSpc>
              <a:buFont typeface="Courier New" panose="02070309020205020404" pitchFamily="49" charset="0"/>
              <a:buChar char="o"/>
            </a:pPr>
            <a:r>
              <a:rPr lang="en-US" sz="3400" dirty="0"/>
              <a:t>3</a:t>
            </a:r>
            <a:r>
              <a:rPr lang="en-US" sz="3400" baseline="30000" dirty="0"/>
              <a:t>rd</a:t>
            </a:r>
            <a:r>
              <a:rPr lang="en-US" sz="3400" dirty="0"/>
              <a:t> party libraries:</a:t>
            </a:r>
          </a:p>
          <a:p>
            <a:pPr marL="914400" lvl="1" indent="-457200">
              <a:lnSpc>
                <a:spcPts val="4480"/>
              </a:lnSpc>
              <a:buFont typeface="Courier New" panose="02070309020205020404" pitchFamily="49" charset="0"/>
              <a:buChar char="o"/>
            </a:pPr>
            <a:endParaRPr lang="en-US" sz="3400" dirty="0"/>
          </a:p>
          <a:p>
            <a:pPr marL="914400" lvl="1" indent="-457200">
              <a:lnSpc>
                <a:spcPts val="4480"/>
              </a:lnSpc>
              <a:buFont typeface="Courier New" panose="02070309020205020404" pitchFamily="49" charset="0"/>
              <a:buChar char="o"/>
            </a:pPr>
            <a:endParaRPr lang="en-US" sz="3400" dirty="0"/>
          </a:p>
          <a:p>
            <a:pPr marL="1371600" lvl="2" indent="-457200">
              <a:lnSpc>
                <a:spcPts val="4480"/>
              </a:lnSpc>
              <a:buFont typeface="Wingdings" pitchFamily="2" charset="2"/>
              <a:buChar char="§"/>
            </a:pPr>
            <a:endParaRPr lang="en-US" sz="3400" dirty="0"/>
          </a:p>
          <a:p>
            <a:pPr marL="1371600" lvl="2" indent="-457200">
              <a:lnSpc>
                <a:spcPts val="4480"/>
              </a:lnSpc>
              <a:buFont typeface="Wingdings" pitchFamily="2" charset="2"/>
              <a:buChar char="§"/>
            </a:pPr>
            <a:endParaRPr lang="en-US" sz="3400" dirty="0"/>
          </a:p>
          <a:p>
            <a:pPr marL="1371600" lvl="2" indent="-457200">
              <a:lnSpc>
                <a:spcPts val="4480"/>
              </a:lnSpc>
              <a:buFont typeface="Wingdings" pitchFamily="2" charset="2"/>
              <a:buChar char="§"/>
            </a:pPr>
            <a:endParaRPr lang="en-US" sz="3400" dirty="0"/>
          </a:p>
          <a:p>
            <a:pPr marL="1371600" lvl="2" indent="-457200">
              <a:lnSpc>
                <a:spcPts val="4480"/>
              </a:lnSpc>
              <a:buFont typeface="Wingdings" pitchFamily="2" charset="2"/>
              <a:buChar char="§"/>
            </a:pPr>
            <a:endParaRPr lang="en-US" sz="3400" dirty="0"/>
          </a:p>
          <a:p>
            <a:pPr marL="1371600" lvl="2" indent="-457200">
              <a:lnSpc>
                <a:spcPts val="4480"/>
              </a:lnSpc>
              <a:buFont typeface="Wingdings" pitchFamily="2" charset="2"/>
              <a:buChar char="§"/>
            </a:pPr>
            <a:endParaRPr lang="en-US" sz="3400" dirty="0"/>
          </a:p>
          <a:p>
            <a:pPr marL="1371600" lvl="2" indent="-457200">
              <a:lnSpc>
                <a:spcPts val="4480"/>
              </a:lnSpc>
              <a:buFont typeface="Wingdings" pitchFamily="2" charset="2"/>
              <a:buChar char="§"/>
            </a:pPr>
            <a:endParaRPr lang="en-US" sz="3400" dirty="0"/>
          </a:p>
          <a:p>
            <a:pPr marL="1371600" lvl="2" indent="-457200">
              <a:lnSpc>
                <a:spcPts val="4480"/>
              </a:lnSpc>
              <a:buFont typeface="Wingdings" pitchFamily="2" charset="2"/>
              <a:buChar char="§"/>
            </a:pPr>
            <a:endParaRPr lang="en-US" sz="3400" dirty="0"/>
          </a:p>
          <a:p>
            <a:pPr lvl="1">
              <a:lnSpc>
                <a:spcPts val="4480"/>
              </a:lnSpc>
            </a:pPr>
            <a:endParaRPr lang="en-US" sz="4400" dirty="0"/>
          </a:p>
          <a:p>
            <a:pPr marL="914400" lvl="1" indent="-457200">
              <a:lnSpc>
                <a:spcPts val="4480"/>
              </a:lnSpc>
              <a:buFont typeface="Courier New" panose="02070309020205020404" pitchFamily="49" charset="0"/>
              <a:buChar char="o"/>
            </a:pPr>
            <a:r>
              <a:rPr lang="en-US" sz="3400" dirty="0"/>
              <a:t>Large-language models:</a:t>
            </a:r>
          </a:p>
          <a:p>
            <a:pPr lvl="1">
              <a:lnSpc>
                <a:spcPts val="4480"/>
              </a:lnSpc>
            </a:pPr>
            <a:r>
              <a:rPr lang="en-US" sz="2800" dirty="0"/>
              <a:t>                       </a:t>
            </a:r>
          </a:p>
          <a:p>
            <a:pPr lvl="2">
              <a:lnSpc>
                <a:spcPts val="4480"/>
              </a:lnSpc>
            </a:pPr>
            <a:endParaRPr lang="en-US" sz="3400" dirty="0"/>
          </a:p>
          <a:p>
            <a:pPr marL="1371600" lvl="2" indent="-457200">
              <a:lnSpc>
                <a:spcPts val="4480"/>
              </a:lnSpc>
              <a:buFont typeface="Wingdings" pitchFamily="2" charset="2"/>
              <a:buChar char="§"/>
            </a:pPr>
            <a:endParaRPr lang="en-US" sz="3400" dirty="0"/>
          </a:p>
          <a:p>
            <a:pPr marL="1371600" lvl="2" indent="-457200">
              <a:lnSpc>
                <a:spcPts val="4480"/>
              </a:lnSpc>
              <a:buFont typeface="Wingdings" pitchFamily="2" charset="2"/>
              <a:buChar char="§"/>
            </a:pPr>
            <a:endParaRPr lang="en-US" sz="3400" dirty="0"/>
          </a:p>
          <a:p>
            <a:pPr marL="1371600" lvl="2" indent="-457200">
              <a:lnSpc>
                <a:spcPts val="4480"/>
              </a:lnSpc>
              <a:buFont typeface="Wingdings" pitchFamily="2" charset="2"/>
              <a:buChar char="§"/>
            </a:pPr>
            <a:endParaRPr lang="en-US" sz="3400" dirty="0"/>
          </a:p>
          <a:p>
            <a:pPr lvl="2">
              <a:lnSpc>
                <a:spcPts val="4480"/>
              </a:lnSpc>
            </a:pPr>
            <a:endParaRPr lang="en-US" sz="3400" dirty="0"/>
          </a:p>
        </p:txBody>
      </p:sp>
      <p:sp>
        <p:nvSpPr>
          <p:cNvPr id="247" name="Rounded Rectangle 246">
            <a:extLst>
              <a:ext uri="{FF2B5EF4-FFF2-40B4-BE49-F238E27FC236}">
                <a16:creationId xmlns:a16="http://schemas.microsoft.com/office/drawing/2014/main" id="{08DF9610-CB57-F205-24E3-3C36C464899F}"/>
              </a:ext>
            </a:extLst>
          </p:cNvPr>
          <p:cNvSpPr>
            <a:spLocks/>
          </p:cNvSpPr>
          <p:nvPr/>
        </p:nvSpPr>
        <p:spPr>
          <a:xfrm>
            <a:off x="29717995" y="4118958"/>
            <a:ext cx="13315957" cy="942380"/>
          </a:xfrm>
          <a:prstGeom prst="roundRect">
            <a:avLst>
              <a:gd name="adj" fmla="val 379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4" name="Rounded Rectangle 233">
            <a:extLst>
              <a:ext uri="{FF2B5EF4-FFF2-40B4-BE49-F238E27FC236}">
                <a16:creationId xmlns:a16="http://schemas.microsoft.com/office/drawing/2014/main" id="{9906901E-1C25-CEED-222A-04D725FEBD9B}"/>
              </a:ext>
            </a:extLst>
          </p:cNvPr>
          <p:cNvSpPr>
            <a:spLocks/>
          </p:cNvSpPr>
          <p:nvPr/>
        </p:nvSpPr>
        <p:spPr>
          <a:xfrm>
            <a:off x="29691687" y="15574348"/>
            <a:ext cx="13305067" cy="8200052"/>
          </a:xfrm>
          <a:prstGeom prst="roundRect">
            <a:avLst>
              <a:gd name="adj" fmla="val 3793"/>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5" name="Rounded Rectangle 244">
            <a:extLst>
              <a:ext uri="{FF2B5EF4-FFF2-40B4-BE49-F238E27FC236}">
                <a16:creationId xmlns:a16="http://schemas.microsoft.com/office/drawing/2014/main" id="{8BEE1906-E9AB-C6C1-B8E7-D159B585788C}"/>
              </a:ext>
            </a:extLst>
          </p:cNvPr>
          <p:cNvSpPr>
            <a:spLocks/>
          </p:cNvSpPr>
          <p:nvPr/>
        </p:nvSpPr>
        <p:spPr>
          <a:xfrm>
            <a:off x="29692457" y="15555675"/>
            <a:ext cx="13304297" cy="923330"/>
          </a:xfrm>
          <a:prstGeom prst="roundRect">
            <a:avLst>
              <a:gd name="adj" fmla="val 3793"/>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6" name="TextBox 185">
            <a:extLst>
              <a:ext uri="{FF2B5EF4-FFF2-40B4-BE49-F238E27FC236}">
                <a16:creationId xmlns:a16="http://schemas.microsoft.com/office/drawing/2014/main" id="{140FE84F-F0D5-D433-45E0-749E8B04CA52}"/>
              </a:ext>
            </a:extLst>
          </p:cNvPr>
          <p:cNvSpPr txBox="1"/>
          <p:nvPr/>
        </p:nvSpPr>
        <p:spPr>
          <a:xfrm>
            <a:off x="29717993" y="15603341"/>
            <a:ext cx="13305066" cy="923330"/>
          </a:xfrm>
          <a:prstGeom prst="rect">
            <a:avLst/>
          </a:prstGeom>
          <a:noFill/>
        </p:spPr>
        <p:txBody>
          <a:bodyPr wrap="square" rtlCol="0">
            <a:spAutoFit/>
          </a:bodyPr>
          <a:lstStyle/>
          <a:p>
            <a:pPr algn="ctr"/>
            <a:r>
              <a:rPr lang="en-US" sz="5400" dirty="0"/>
              <a:t>Conclusion &amp; Future Work</a:t>
            </a:r>
          </a:p>
        </p:txBody>
      </p:sp>
      <p:sp>
        <p:nvSpPr>
          <p:cNvPr id="185" name="TextBox 184">
            <a:extLst>
              <a:ext uri="{FF2B5EF4-FFF2-40B4-BE49-F238E27FC236}">
                <a16:creationId xmlns:a16="http://schemas.microsoft.com/office/drawing/2014/main" id="{A8168DB8-97E5-AE08-A304-C5BE77BEC765}"/>
              </a:ext>
            </a:extLst>
          </p:cNvPr>
          <p:cNvSpPr txBox="1"/>
          <p:nvPr/>
        </p:nvSpPr>
        <p:spPr>
          <a:xfrm>
            <a:off x="29691687" y="4170032"/>
            <a:ext cx="13319405" cy="923330"/>
          </a:xfrm>
          <a:prstGeom prst="rect">
            <a:avLst/>
          </a:prstGeom>
          <a:noFill/>
        </p:spPr>
        <p:txBody>
          <a:bodyPr wrap="square" rtlCol="0">
            <a:spAutoFit/>
          </a:bodyPr>
          <a:lstStyle/>
          <a:p>
            <a:pPr algn="ctr"/>
            <a:r>
              <a:rPr lang="en-US" sz="5400" dirty="0"/>
              <a:t>Optimization Techniques</a:t>
            </a:r>
          </a:p>
        </p:txBody>
      </p:sp>
      <p:pic>
        <p:nvPicPr>
          <p:cNvPr id="3" name="Graphic 2">
            <a:extLst>
              <a:ext uri="{FF2B5EF4-FFF2-40B4-BE49-F238E27FC236}">
                <a16:creationId xmlns:a16="http://schemas.microsoft.com/office/drawing/2014/main" id="{31A01942-A441-639A-A918-165DEAEF93E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034611" y="17295068"/>
            <a:ext cx="6143539" cy="4344860"/>
          </a:xfrm>
          <a:prstGeom prst="rect">
            <a:avLst/>
          </a:prstGeom>
        </p:spPr>
      </p:pic>
      <p:pic>
        <p:nvPicPr>
          <p:cNvPr id="8" name="Graphic 7">
            <a:extLst>
              <a:ext uri="{FF2B5EF4-FFF2-40B4-BE49-F238E27FC236}">
                <a16:creationId xmlns:a16="http://schemas.microsoft.com/office/drawing/2014/main" id="{D8148947-CD99-ABCB-C0B0-09AD388D186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502007" y="20567691"/>
            <a:ext cx="1360493" cy="1798487"/>
          </a:xfrm>
          <a:prstGeom prst="rect">
            <a:avLst/>
          </a:prstGeom>
        </p:spPr>
      </p:pic>
      <p:pic>
        <p:nvPicPr>
          <p:cNvPr id="12" name="Graphic 11">
            <a:extLst>
              <a:ext uri="{FF2B5EF4-FFF2-40B4-BE49-F238E27FC236}">
                <a16:creationId xmlns:a16="http://schemas.microsoft.com/office/drawing/2014/main" id="{BD281581-49D9-59D6-A930-AFB67F6CAF1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90381" y="20278002"/>
            <a:ext cx="2371177" cy="2371177"/>
          </a:xfrm>
          <a:prstGeom prst="rect">
            <a:avLst/>
          </a:prstGeom>
        </p:spPr>
      </p:pic>
      <p:pic>
        <p:nvPicPr>
          <p:cNvPr id="14" name="Graphic 13">
            <a:extLst>
              <a:ext uri="{FF2B5EF4-FFF2-40B4-BE49-F238E27FC236}">
                <a16:creationId xmlns:a16="http://schemas.microsoft.com/office/drawing/2014/main" id="{FCF2D6A3-D34F-12A6-DC84-751340DE444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655489" y="20445800"/>
            <a:ext cx="2123527" cy="2123527"/>
          </a:xfrm>
          <a:prstGeom prst="rect">
            <a:avLst/>
          </a:prstGeom>
        </p:spPr>
      </p:pic>
      <p:pic>
        <p:nvPicPr>
          <p:cNvPr id="16" name="Picture 15">
            <a:extLst>
              <a:ext uri="{FF2B5EF4-FFF2-40B4-BE49-F238E27FC236}">
                <a16:creationId xmlns:a16="http://schemas.microsoft.com/office/drawing/2014/main" id="{0BBFB5B9-B5D3-7F3A-8905-5283750C5570}"/>
              </a:ext>
            </a:extLst>
          </p:cNvPr>
          <p:cNvPicPr>
            <a:picLocks noChangeAspect="1"/>
          </p:cNvPicPr>
          <p:nvPr/>
        </p:nvPicPr>
        <p:blipFill>
          <a:blip r:embed="rId9"/>
          <a:stretch>
            <a:fillRect/>
          </a:stretch>
        </p:blipFill>
        <p:spPr>
          <a:xfrm>
            <a:off x="2551071" y="23516913"/>
            <a:ext cx="3560200" cy="1863071"/>
          </a:xfrm>
          <a:prstGeom prst="rect">
            <a:avLst/>
          </a:prstGeom>
        </p:spPr>
      </p:pic>
      <p:pic>
        <p:nvPicPr>
          <p:cNvPr id="18" name="Picture 17">
            <a:extLst>
              <a:ext uri="{FF2B5EF4-FFF2-40B4-BE49-F238E27FC236}">
                <a16:creationId xmlns:a16="http://schemas.microsoft.com/office/drawing/2014/main" id="{AD28B61D-63A2-B183-ED31-D8216421CABD}"/>
              </a:ext>
            </a:extLst>
          </p:cNvPr>
          <p:cNvPicPr>
            <a:picLocks noChangeAspect="1"/>
          </p:cNvPicPr>
          <p:nvPr/>
        </p:nvPicPr>
        <p:blipFill>
          <a:blip r:embed="rId10"/>
          <a:stretch>
            <a:fillRect/>
          </a:stretch>
        </p:blipFill>
        <p:spPr>
          <a:xfrm>
            <a:off x="6662522" y="23622712"/>
            <a:ext cx="1775113" cy="1775113"/>
          </a:xfrm>
          <a:prstGeom prst="rect">
            <a:avLst/>
          </a:prstGeom>
        </p:spPr>
      </p:pic>
      <p:pic>
        <p:nvPicPr>
          <p:cNvPr id="20" name="Graphic 19">
            <a:extLst>
              <a:ext uri="{FF2B5EF4-FFF2-40B4-BE49-F238E27FC236}">
                <a16:creationId xmlns:a16="http://schemas.microsoft.com/office/drawing/2014/main" id="{AA52B723-0736-3BEE-20C8-D5E46FE8207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873673" y="23559713"/>
            <a:ext cx="1687157" cy="1687157"/>
          </a:xfrm>
          <a:prstGeom prst="rect">
            <a:avLst/>
          </a:prstGeom>
        </p:spPr>
      </p:pic>
      <p:pic>
        <p:nvPicPr>
          <p:cNvPr id="22" name="Graphic 21">
            <a:extLst>
              <a:ext uri="{FF2B5EF4-FFF2-40B4-BE49-F238E27FC236}">
                <a16:creationId xmlns:a16="http://schemas.microsoft.com/office/drawing/2014/main" id="{7F04F09F-8668-9341-A738-F86EB9DF273A}"/>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111271" y="27543483"/>
            <a:ext cx="2625697" cy="2625697"/>
          </a:xfrm>
          <a:prstGeom prst="rect">
            <a:avLst/>
          </a:prstGeom>
        </p:spPr>
      </p:pic>
      <p:pic>
        <p:nvPicPr>
          <p:cNvPr id="24" name="Graphic 23">
            <a:extLst>
              <a:ext uri="{FF2B5EF4-FFF2-40B4-BE49-F238E27FC236}">
                <a16:creationId xmlns:a16="http://schemas.microsoft.com/office/drawing/2014/main" id="{054BC0D9-324F-0D9D-73AC-3323F68F538B}"/>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739836" y="27706565"/>
            <a:ext cx="2023778" cy="2023778"/>
          </a:xfrm>
          <a:prstGeom prst="rect">
            <a:avLst/>
          </a:prstGeom>
        </p:spPr>
      </p:pic>
      <p:pic>
        <p:nvPicPr>
          <p:cNvPr id="26" name="Picture 25">
            <a:extLst>
              <a:ext uri="{FF2B5EF4-FFF2-40B4-BE49-F238E27FC236}">
                <a16:creationId xmlns:a16="http://schemas.microsoft.com/office/drawing/2014/main" id="{A0D9EB68-969D-6B76-CBE9-CE1AF1D99C90}"/>
              </a:ext>
            </a:extLst>
          </p:cNvPr>
          <p:cNvPicPr>
            <a:picLocks noChangeAspect="1"/>
          </p:cNvPicPr>
          <p:nvPr/>
        </p:nvPicPr>
        <p:blipFill>
          <a:blip r:embed="rId14"/>
          <a:stretch>
            <a:fillRect/>
          </a:stretch>
        </p:blipFill>
        <p:spPr>
          <a:xfrm>
            <a:off x="2910225" y="27543483"/>
            <a:ext cx="2625697" cy="2364343"/>
          </a:xfrm>
          <a:prstGeom prst="rect">
            <a:avLst/>
          </a:prstGeom>
        </p:spPr>
      </p:pic>
      <p:sp>
        <p:nvSpPr>
          <p:cNvPr id="27" name="Right Brace 26">
            <a:extLst>
              <a:ext uri="{FF2B5EF4-FFF2-40B4-BE49-F238E27FC236}">
                <a16:creationId xmlns:a16="http://schemas.microsoft.com/office/drawing/2014/main" id="{1EC9B488-EA2C-48C6-D53C-AC10B7008A7C}"/>
              </a:ext>
            </a:extLst>
          </p:cNvPr>
          <p:cNvSpPr/>
          <p:nvPr/>
        </p:nvSpPr>
        <p:spPr>
          <a:xfrm rot="5400000">
            <a:off x="5289140" y="27335551"/>
            <a:ext cx="912442" cy="5670272"/>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dirty="0"/>
          </a:p>
        </p:txBody>
      </p:sp>
      <p:sp>
        <p:nvSpPr>
          <p:cNvPr id="28" name="TextBox 27">
            <a:extLst>
              <a:ext uri="{FF2B5EF4-FFF2-40B4-BE49-F238E27FC236}">
                <a16:creationId xmlns:a16="http://schemas.microsoft.com/office/drawing/2014/main" id="{4698F144-A16B-4495-5066-CEB4C4059E40}"/>
              </a:ext>
            </a:extLst>
          </p:cNvPr>
          <p:cNvSpPr txBox="1"/>
          <p:nvPr/>
        </p:nvSpPr>
        <p:spPr>
          <a:xfrm>
            <a:off x="3670977" y="30710634"/>
            <a:ext cx="4138418" cy="523220"/>
          </a:xfrm>
          <a:prstGeom prst="rect">
            <a:avLst/>
          </a:prstGeom>
          <a:noFill/>
        </p:spPr>
        <p:txBody>
          <a:bodyPr wrap="square" rtlCol="0">
            <a:spAutoFit/>
          </a:bodyPr>
          <a:lstStyle/>
          <a:p>
            <a:pPr algn="ctr"/>
            <a:r>
              <a:rPr lang="en-US" sz="2800" dirty="0"/>
              <a:t>For Q&amp;A mode</a:t>
            </a:r>
          </a:p>
        </p:txBody>
      </p:sp>
      <p:sp>
        <p:nvSpPr>
          <p:cNvPr id="29" name="Right Brace 28">
            <a:extLst>
              <a:ext uri="{FF2B5EF4-FFF2-40B4-BE49-F238E27FC236}">
                <a16:creationId xmlns:a16="http://schemas.microsoft.com/office/drawing/2014/main" id="{601A7C4A-F02E-398C-798C-5A49CE624FB0}"/>
              </a:ext>
            </a:extLst>
          </p:cNvPr>
          <p:cNvSpPr/>
          <p:nvPr/>
        </p:nvSpPr>
        <p:spPr>
          <a:xfrm rot="5400000">
            <a:off x="10261032" y="29059049"/>
            <a:ext cx="912442" cy="2223275"/>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dirty="0"/>
          </a:p>
        </p:txBody>
      </p:sp>
      <p:sp>
        <p:nvSpPr>
          <p:cNvPr id="30" name="TextBox 29">
            <a:extLst>
              <a:ext uri="{FF2B5EF4-FFF2-40B4-BE49-F238E27FC236}">
                <a16:creationId xmlns:a16="http://schemas.microsoft.com/office/drawing/2014/main" id="{FC50911A-14A5-C053-2F8B-ED3FCB15C7DA}"/>
              </a:ext>
            </a:extLst>
          </p:cNvPr>
          <p:cNvSpPr txBox="1"/>
          <p:nvPr/>
        </p:nvSpPr>
        <p:spPr>
          <a:xfrm>
            <a:off x="8772251" y="30710634"/>
            <a:ext cx="4138418" cy="523220"/>
          </a:xfrm>
          <a:prstGeom prst="rect">
            <a:avLst/>
          </a:prstGeom>
          <a:noFill/>
        </p:spPr>
        <p:txBody>
          <a:bodyPr wrap="square" rtlCol="0">
            <a:spAutoFit/>
          </a:bodyPr>
          <a:lstStyle/>
          <a:p>
            <a:pPr algn="ctr"/>
            <a:r>
              <a:rPr lang="en-US" sz="2800" dirty="0"/>
              <a:t>For SBML generation</a:t>
            </a:r>
          </a:p>
        </p:txBody>
      </p:sp>
      <p:sp>
        <p:nvSpPr>
          <p:cNvPr id="31" name="TextBox 30">
            <a:extLst>
              <a:ext uri="{FF2B5EF4-FFF2-40B4-BE49-F238E27FC236}">
                <a16:creationId xmlns:a16="http://schemas.microsoft.com/office/drawing/2014/main" id="{097C4FDF-8871-299D-E5DC-2CED24FF9F9D}"/>
              </a:ext>
            </a:extLst>
          </p:cNvPr>
          <p:cNvSpPr txBox="1"/>
          <p:nvPr/>
        </p:nvSpPr>
        <p:spPr>
          <a:xfrm>
            <a:off x="30022802" y="5174982"/>
            <a:ext cx="12553948" cy="4001046"/>
          </a:xfrm>
          <a:prstGeom prst="rect">
            <a:avLst/>
          </a:prstGeom>
          <a:noFill/>
        </p:spPr>
        <p:txBody>
          <a:bodyPr wrap="square" rtlCol="0">
            <a:noAutofit/>
          </a:bodyPr>
          <a:lstStyle/>
          <a:p>
            <a:pPr marL="457200" indent="-457200">
              <a:lnSpc>
                <a:spcPct val="105000"/>
              </a:lnSpc>
              <a:buFont typeface="Arial" panose="020B0604020202020204" pitchFamily="34" charset="0"/>
              <a:buChar char="•"/>
            </a:pPr>
            <a:r>
              <a:rPr lang="en-US" sz="3400" dirty="0"/>
              <a:t>One drawback of using LLMs is that they are susceptible to hallucinations, where they generate false or inaccurate information. This tendency is more prominent when dealing with niche topics or information, which SBML Multi can fall under. </a:t>
            </a:r>
          </a:p>
          <a:p>
            <a:pPr marL="457200" indent="-457200">
              <a:lnSpc>
                <a:spcPct val="105000"/>
              </a:lnSpc>
              <a:buFont typeface="Arial" panose="020B0604020202020204" pitchFamily="34" charset="0"/>
              <a:buChar char="•"/>
            </a:pPr>
            <a:r>
              <a:rPr lang="en-US" sz="3400" dirty="0"/>
              <a:t>To combat this, we implement different optimization techniques.</a:t>
            </a:r>
          </a:p>
          <a:p>
            <a:pPr lvl="1">
              <a:lnSpc>
                <a:spcPct val="105000"/>
              </a:lnSpc>
            </a:pPr>
            <a:endParaRPr lang="en-US" sz="3400" dirty="0"/>
          </a:p>
        </p:txBody>
      </p:sp>
      <p:sp>
        <p:nvSpPr>
          <p:cNvPr id="2" name="Oval Callout 1">
            <a:extLst>
              <a:ext uri="{FF2B5EF4-FFF2-40B4-BE49-F238E27FC236}">
                <a16:creationId xmlns:a16="http://schemas.microsoft.com/office/drawing/2014/main" id="{D2A98DA1-0A2C-3F3D-1E9B-C9130D6ED624}"/>
              </a:ext>
            </a:extLst>
          </p:cNvPr>
          <p:cNvSpPr/>
          <p:nvPr/>
        </p:nvSpPr>
        <p:spPr>
          <a:xfrm>
            <a:off x="31845423" y="9031666"/>
            <a:ext cx="3554219" cy="1131761"/>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00" dirty="0"/>
              <a:t>Tell me about the IL-6 pathway.</a:t>
            </a:r>
          </a:p>
        </p:txBody>
      </p:sp>
      <p:sp>
        <p:nvSpPr>
          <p:cNvPr id="9" name="Oval Callout 8">
            <a:extLst>
              <a:ext uri="{FF2B5EF4-FFF2-40B4-BE49-F238E27FC236}">
                <a16:creationId xmlns:a16="http://schemas.microsoft.com/office/drawing/2014/main" id="{A47974B5-B3DC-FB2B-6500-75E1A6B38188}"/>
              </a:ext>
            </a:extLst>
          </p:cNvPr>
          <p:cNvSpPr/>
          <p:nvPr/>
        </p:nvSpPr>
        <p:spPr>
          <a:xfrm>
            <a:off x="37407512" y="9031667"/>
            <a:ext cx="3554220" cy="1131761"/>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00" dirty="0"/>
              <a:t>Tell me about the IL-6 pathway in regards to its role in for inflammation.</a:t>
            </a:r>
          </a:p>
        </p:txBody>
      </p:sp>
      <p:sp>
        <p:nvSpPr>
          <p:cNvPr id="10" name="Oval Callout 9">
            <a:extLst>
              <a:ext uri="{FF2B5EF4-FFF2-40B4-BE49-F238E27FC236}">
                <a16:creationId xmlns:a16="http://schemas.microsoft.com/office/drawing/2014/main" id="{344693AB-9689-56E7-BD5D-521BC6DDAE0D}"/>
              </a:ext>
            </a:extLst>
          </p:cNvPr>
          <p:cNvSpPr/>
          <p:nvPr/>
        </p:nvSpPr>
        <p:spPr>
          <a:xfrm>
            <a:off x="31845421" y="11110351"/>
            <a:ext cx="3554221" cy="1131761"/>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00" dirty="0"/>
              <a:t>Generate me an SBML Multi file of the IL-6 pathway.</a:t>
            </a:r>
          </a:p>
        </p:txBody>
      </p:sp>
      <p:sp>
        <p:nvSpPr>
          <p:cNvPr id="11" name="Oval Callout 10">
            <a:extLst>
              <a:ext uri="{FF2B5EF4-FFF2-40B4-BE49-F238E27FC236}">
                <a16:creationId xmlns:a16="http://schemas.microsoft.com/office/drawing/2014/main" id="{ACA995DF-4D6F-1905-AD52-335C19F5ED33}"/>
              </a:ext>
            </a:extLst>
          </p:cNvPr>
          <p:cNvSpPr/>
          <p:nvPr/>
        </p:nvSpPr>
        <p:spPr>
          <a:xfrm>
            <a:off x="37407511" y="11107720"/>
            <a:ext cx="3554221" cy="1131761"/>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00" dirty="0"/>
              <a:t>Here are some example SBML Multi files. Please generate an IL-6 one!</a:t>
            </a:r>
          </a:p>
        </p:txBody>
      </p:sp>
      <p:sp>
        <p:nvSpPr>
          <p:cNvPr id="15" name="TextBox 14">
            <a:extLst>
              <a:ext uri="{FF2B5EF4-FFF2-40B4-BE49-F238E27FC236}">
                <a16:creationId xmlns:a16="http://schemas.microsoft.com/office/drawing/2014/main" id="{C973F3A5-691C-BF1D-3EA8-45062DC3BD32}"/>
              </a:ext>
            </a:extLst>
          </p:cNvPr>
          <p:cNvSpPr txBox="1"/>
          <p:nvPr/>
        </p:nvSpPr>
        <p:spPr>
          <a:xfrm>
            <a:off x="36071988" y="9289771"/>
            <a:ext cx="1341120" cy="615553"/>
          </a:xfrm>
          <a:prstGeom prst="rect">
            <a:avLst/>
          </a:prstGeom>
          <a:noFill/>
        </p:spPr>
        <p:txBody>
          <a:bodyPr wrap="square" rtlCol="0">
            <a:spAutoFit/>
          </a:bodyPr>
          <a:lstStyle/>
          <a:p>
            <a:r>
              <a:rPr lang="en-US" sz="3400" dirty="0"/>
              <a:t>vs.</a:t>
            </a:r>
          </a:p>
        </p:txBody>
      </p:sp>
      <p:sp>
        <p:nvSpPr>
          <p:cNvPr id="17" name="TextBox 16">
            <a:extLst>
              <a:ext uri="{FF2B5EF4-FFF2-40B4-BE49-F238E27FC236}">
                <a16:creationId xmlns:a16="http://schemas.microsoft.com/office/drawing/2014/main" id="{7E84271E-B93E-BABC-4907-A7DD00082A4F}"/>
              </a:ext>
            </a:extLst>
          </p:cNvPr>
          <p:cNvSpPr txBox="1"/>
          <p:nvPr/>
        </p:nvSpPr>
        <p:spPr>
          <a:xfrm>
            <a:off x="36071988" y="11372363"/>
            <a:ext cx="1341120" cy="615553"/>
          </a:xfrm>
          <a:prstGeom prst="rect">
            <a:avLst/>
          </a:prstGeom>
          <a:noFill/>
        </p:spPr>
        <p:txBody>
          <a:bodyPr wrap="square" rtlCol="0">
            <a:spAutoFit/>
          </a:bodyPr>
          <a:lstStyle/>
          <a:p>
            <a:r>
              <a:rPr lang="en-US" sz="3400" dirty="0"/>
              <a:t>vs.</a:t>
            </a:r>
          </a:p>
        </p:txBody>
      </p:sp>
      <p:sp>
        <p:nvSpPr>
          <p:cNvPr id="19" name="Oval Callout 18">
            <a:extLst>
              <a:ext uri="{FF2B5EF4-FFF2-40B4-BE49-F238E27FC236}">
                <a16:creationId xmlns:a16="http://schemas.microsoft.com/office/drawing/2014/main" id="{E9D3BF2D-5529-575B-44B7-7A884C3841EA}"/>
              </a:ext>
            </a:extLst>
          </p:cNvPr>
          <p:cNvSpPr/>
          <p:nvPr/>
        </p:nvSpPr>
        <p:spPr>
          <a:xfrm>
            <a:off x="31845421" y="13243137"/>
            <a:ext cx="3554221" cy="1131761"/>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00" dirty="0"/>
              <a:t>What does </a:t>
            </a:r>
            <a:r>
              <a:rPr lang="en-US" sz="1700" dirty="0" err="1"/>
              <a:t>speciesType</a:t>
            </a:r>
            <a:r>
              <a:rPr lang="en-US" sz="1700" dirty="0"/>
              <a:t> mean here in this file?</a:t>
            </a:r>
          </a:p>
        </p:txBody>
      </p:sp>
      <p:sp>
        <p:nvSpPr>
          <p:cNvPr id="21" name="Oval Callout 20">
            <a:extLst>
              <a:ext uri="{FF2B5EF4-FFF2-40B4-BE49-F238E27FC236}">
                <a16:creationId xmlns:a16="http://schemas.microsoft.com/office/drawing/2014/main" id="{CB467811-C833-9179-6AA6-194B7317D45F}"/>
              </a:ext>
            </a:extLst>
          </p:cNvPr>
          <p:cNvSpPr/>
          <p:nvPr/>
        </p:nvSpPr>
        <p:spPr>
          <a:xfrm>
            <a:off x="37407512" y="13238802"/>
            <a:ext cx="3554220" cy="1131761"/>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00" dirty="0"/>
              <a:t>Here’s the SBML Multi spec doc. What does </a:t>
            </a:r>
            <a:r>
              <a:rPr lang="en-US" sz="1700" dirty="0" err="1"/>
              <a:t>speciesType</a:t>
            </a:r>
            <a:r>
              <a:rPr lang="en-US" sz="1700" dirty="0"/>
              <a:t> mean here?</a:t>
            </a:r>
          </a:p>
        </p:txBody>
      </p:sp>
      <p:sp>
        <p:nvSpPr>
          <p:cNvPr id="23" name="TextBox 22">
            <a:extLst>
              <a:ext uri="{FF2B5EF4-FFF2-40B4-BE49-F238E27FC236}">
                <a16:creationId xmlns:a16="http://schemas.microsoft.com/office/drawing/2014/main" id="{5402BE17-5A03-0305-9AB7-F15230DE91A2}"/>
              </a:ext>
            </a:extLst>
          </p:cNvPr>
          <p:cNvSpPr txBox="1"/>
          <p:nvPr/>
        </p:nvSpPr>
        <p:spPr>
          <a:xfrm>
            <a:off x="36071988" y="13467507"/>
            <a:ext cx="1341120" cy="615553"/>
          </a:xfrm>
          <a:prstGeom prst="rect">
            <a:avLst/>
          </a:prstGeom>
          <a:noFill/>
        </p:spPr>
        <p:txBody>
          <a:bodyPr wrap="square" rtlCol="0">
            <a:spAutoFit/>
          </a:bodyPr>
          <a:lstStyle/>
          <a:p>
            <a:r>
              <a:rPr lang="en-US" sz="3400" dirty="0"/>
              <a:t>vs.</a:t>
            </a:r>
          </a:p>
        </p:txBody>
      </p:sp>
      <p:sp>
        <p:nvSpPr>
          <p:cNvPr id="25" name="TextBox 24">
            <a:extLst>
              <a:ext uri="{FF2B5EF4-FFF2-40B4-BE49-F238E27FC236}">
                <a16:creationId xmlns:a16="http://schemas.microsoft.com/office/drawing/2014/main" id="{3E4F91DE-F748-4636-AA8C-7E9F15AC6FD1}"/>
              </a:ext>
            </a:extLst>
          </p:cNvPr>
          <p:cNvSpPr txBox="1"/>
          <p:nvPr/>
        </p:nvSpPr>
        <p:spPr>
          <a:xfrm>
            <a:off x="30067246" y="16657258"/>
            <a:ext cx="12553948" cy="6897541"/>
          </a:xfrm>
          <a:prstGeom prst="rect">
            <a:avLst/>
          </a:prstGeom>
          <a:noFill/>
        </p:spPr>
        <p:txBody>
          <a:bodyPr wrap="square" rtlCol="0">
            <a:noAutofit/>
          </a:bodyPr>
          <a:lstStyle/>
          <a:p>
            <a:pPr marL="457200" indent="-457200">
              <a:lnSpc>
                <a:spcPct val="107000"/>
              </a:lnSpc>
              <a:buFont typeface="Arial" panose="020B0604020202020204" pitchFamily="34" charset="0"/>
              <a:buChar char="•"/>
            </a:pPr>
            <a:r>
              <a:rPr lang="en-US" sz="3300" dirty="0"/>
              <a:t>Through </a:t>
            </a:r>
            <a:r>
              <a:rPr lang="en-US" sz="3300" i="1" dirty="0"/>
              <a:t>SBML Multi Generation Wizard</a:t>
            </a:r>
            <a:r>
              <a:rPr lang="en-US" sz="3300" dirty="0"/>
              <a:t>, we showcase a promising method of generating SBML Multi files from images, allowing users easier access to Simmune tools, such as the Simmune Modeler, SimAnalyzer and the Simmune Simulator, to simulate cell signaling pathways and other processes. </a:t>
            </a:r>
            <a:br>
              <a:rPr lang="en-US" sz="3300" dirty="0"/>
            </a:br>
            <a:br>
              <a:rPr lang="en-US" sz="1200" dirty="0"/>
            </a:br>
            <a:endParaRPr lang="en-US" sz="400" dirty="0"/>
          </a:p>
          <a:p>
            <a:pPr marL="457200" indent="-457200">
              <a:lnSpc>
                <a:spcPct val="107000"/>
              </a:lnSpc>
              <a:buFont typeface="Arial" panose="020B0604020202020204" pitchFamily="34" charset="0"/>
              <a:buChar char="•"/>
            </a:pPr>
            <a:r>
              <a:rPr lang="en-US" sz="3300" dirty="0"/>
              <a:t>Future opportunities for extending the wizard’s capabilities could include:</a:t>
            </a:r>
          </a:p>
          <a:p>
            <a:pPr marL="914400" lvl="1" indent="-457200">
              <a:lnSpc>
                <a:spcPct val="107000"/>
              </a:lnSpc>
              <a:buFont typeface="Courier New" panose="02070309020205020404" pitchFamily="49" charset="0"/>
              <a:buChar char="o"/>
            </a:pPr>
            <a:r>
              <a:rPr lang="en-US" sz="3300" dirty="0"/>
              <a:t>Creating a ‘coach’ to explain errors found during validation and biological insights from the model.</a:t>
            </a:r>
          </a:p>
          <a:p>
            <a:pPr marL="914400" lvl="1" indent="-457200">
              <a:lnSpc>
                <a:spcPct val="107000"/>
              </a:lnSpc>
              <a:buFont typeface="Courier New" panose="02070309020205020404" pitchFamily="49" charset="0"/>
              <a:buChar char="o"/>
            </a:pPr>
            <a:r>
              <a:rPr lang="en-US" sz="3300" dirty="0"/>
              <a:t>Adding a history section for </a:t>
            </a:r>
            <a:r>
              <a:rPr lang="en-US" sz="3300"/>
              <a:t>past requests.</a:t>
            </a:r>
            <a:endParaRPr lang="en-US" sz="3300" dirty="0"/>
          </a:p>
          <a:p>
            <a:pPr marL="914400" lvl="1" indent="-457200">
              <a:lnSpc>
                <a:spcPct val="107000"/>
              </a:lnSpc>
              <a:buFont typeface="Courier New" panose="02070309020205020404" pitchFamily="49" charset="0"/>
              <a:buChar char="o"/>
            </a:pPr>
            <a:r>
              <a:rPr lang="en-US" sz="3300" dirty="0"/>
              <a:t>Pauses during generation to allow for the user to fill in fields that the LLM may detect it lacks from inputted information.</a:t>
            </a:r>
          </a:p>
          <a:p>
            <a:pPr lvl="1">
              <a:lnSpc>
                <a:spcPct val="107000"/>
              </a:lnSpc>
            </a:pPr>
            <a:endParaRPr lang="en-US" sz="3300" dirty="0"/>
          </a:p>
        </p:txBody>
      </p:sp>
      <p:pic>
        <p:nvPicPr>
          <p:cNvPr id="38" name="Picture 37">
            <a:extLst>
              <a:ext uri="{FF2B5EF4-FFF2-40B4-BE49-F238E27FC236}">
                <a16:creationId xmlns:a16="http://schemas.microsoft.com/office/drawing/2014/main" id="{BC2250B1-3D5F-7854-D602-D7A5BB70C741}"/>
              </a:ext>
            </a:extLst>
          </p:cNvPr>
          <p:cNvPicPr>
            <a:picLocks noChangeAspect="1"/>
          </p:cNvPicPr>
          <p:nvPr/>
        </p:nvPicPr>
        <p:blipFill>
          <a:blip r:embed="rId15"/>
          <a:stretch>
            <a:fillRect/>
          </a:stretch>
        </p:blipFill>
        <p:spPr>
          <a:xfrm>
            <a:off x="15302953" y="19059729"/>
            <a:ext cx="3526203" cy="7556149"/>
          </a:xfrm>
          <a:prstGeom prst="rect">
            <a:avLst/>
          </a:prstGeom>
        </p:spPr>
      </p:pic>
      <p:pic>
        <p:nvPicPr>
          <p:cNvPr id="42" name="Picture 41">
            <a:extLst>
              <a:ext uri="{FF2B5EF4-FFF2-40B4-BE49-F238E27FC236}">
                <a16:creationId xmlns:a16="http://schemas.microsoft.com/office/drawing/2014/main" id="{A888D051-2842-C5A8-9382-CF33DCDC0601}"/>
              </a:ext>
            </a:extLst>
          </p:cNvPr>
          <p:cNvPicPr>
            <a:picLocks noChangeAspect="1"/>
          </p:cNvPicPr>
          <p:nvPr/>
        </p:nvPicPr>
        <p:blipFill>
          <a:blip r:embed="rId16"/>
          <a:stretch>
            <a:fillRect/>
          </a:stretch>
        </p:blipFill>
        <p:spPr>
          <a:xfrm>
            <a:off x="17972266" y="27716131"/>
            <a:ext cx="7772400" cy="3890059"/>
          </a:xfrm>
          <a:prstGeom prst="rect">
            <a:avLst/>
          </a:prstGeom>
        </p:spPr>
      </p:pic>
      <p:pic>
        <p:nvPicPr>
          <p:cNvPr id="44" name="Picture 43">
            <a:extLst>
              <a:ext uri="{FF2B5EF4-FFF2-40B4-BE49-F238E27FC236}">
                <a16:creationId xmlns:a16="http://schemas.microsoft.com/office/drawing/2014/main" id="{9B36D8A8-3B56-4C33-1EEC-DC869D11A0A3}"/>
              </a:ext>
            </a:extLst>
          </p:cNvPr>
          <p:cNvPicPr>
            <a:picLocks noChangeAspect="1"/>
          </p:cNvPicPr>
          <p:nvPr/>
        </p:nvPicPr>
        <p:blipFill>
          <a:blip r:embed="rId17"/>
          <a:stretch>
            <a:fillRect/>
          </a:stretch>
        </p:blipFill>
        <p:spPr>
          <a:xfrm>
            <a:off x="23274948" y="19584945"/>
            <a:ext cx="5359610" cy="6515447"/>
          </a:xfrm>
          <a:prstGeom prst="rect">
            <a:avLst/>
          </a:prstGeom>
        </p:spPr>
      </p:pic>
      <p:sp>
        <p:nvSpPr>
          <p:cNvPr id="47" name="TextBox 46">
            <a:extLst>
              <a:ext uri="{FF2B5EF4-FFF2-40B4-BE49-F238E27FC236}">
                <a16:creationId xmlns:a16="http://schemas.microsoft.com/office/drawing/2014/main" id="{D0911B01-8B56-C9F1-FBDE-8AED133A5DAB}"/>
              </a:ext>
            </a:extLst>
          </p:cNvPr>
          <p:cNvSpPr txBox="1"/>
          <p:nvPr/>
        </p:nvSpPr>
        <p:spPr>
          <a:xfrm>
            <a:off x="3312455" y="22537060"/>
            <a:ext cx="1739591" cy="523220"/>
          </a:xfrm>
          <a:prstGeom prst="rect">
            <a:avLst/>
          </a:prstGeom>
          <a:noFill/>
        </p:spPr>
        <p:txBody>
          <a:bodyPr wrap="square" rtlCol="0">
            <a:spAutoFit/>
          </a:bodyPr>
          <a:lstStyle/>
          <a:p>
            <a:pPr algn="ctr"/>
            <a:r>
              <a:rPr lang="en-US" sz="2800" dirty="0"/>
              <a:t>Ollama</a:t>
            </a:r>
          </a:p>
        </p:txBody>
      </p:sp>
      <p:sp>
        <p:nvSpPr>
          <p:cNvPr id="48" name="TextBox 47">
            <a:extLst>
              <a:ext uri="{FF2B5EF4-FFF2-40B4-BE49-F238E27FC236}">
                <a16:creationId xmlns:a16="http://schemas.microsoft.com/office/drawing/2014/main" id="{B13D4238-4D2D-8737-6B08-C65465D3191C}"/>
              </a:ext>
            </a:extLst>
          </p:cNvPr>
          <p:cNvSpPr txBox="1"/>
          <p:nvPr/>
        </p:nvSpPr>
        <p:spPr>
          <a:xfrm>
            <a:off x="9634541" y="25474014"/>
            <a:ext cx="2160063" cy="523220"/>
          </a:xfrm>
          <a:prstGeom prst="rect">
            <a:avLst/>
          </a:prstGeom>
          <a:noFill/>
        </p:spPr>
        <p:txBody>
          <a:bodyPr wrap="square" rtlCol="0">
            <a:spAutoFit/>
          </a:bodyPr>
          <a:lstStyle/>
          <a:p>
            <a:pPr algn="ctr"/>
            <a:r>
              <a:rPr lang="en-US" sz="2800" dirty="0"/>
              <a:t>LangChain</a:t>
            </a:r>
          </a:p>
        </p:txBody>
      </p:sp>
      <p:sp>
        <p:nvSpPr>
          <p:cNvPr id="49" name="TextBox 48">
            <a:extLst>
              <a:ext uri="{FF2B5EF4-FFF2-40B4-BE49-F238E27FC236}">
                <a16:creationId xmlns:a16="http://schemas.microsoft.com/office/drawing/2014/main" id="{AD743F20-93F5-976B-EF83-3FBEF4945CDA}"/>
              </a:ext>
            </a:extLst>
          </p:cNvPr>
          <p:cNvSpPr txBox="1"/>
          <p:nvPr/>
        </p:nvSpPr>
        <p:spPr>
          <a:xfrm>
            <a:off x="6678590" y="25522886"/>
            <a:ext cx="1739591" cy="523220"/>
          </a:xfrm>
          <a:prstGeom prst="rect">
            <a:avLst/>
          </a:prstGeom>
          <a:noFill/>
        </p:spPr>
        <p:txBody>
          <a:bodyPr wrap="square" rtlCol="0">
            <a:spAutoFit/>
          </a:bodyPr>
          <a:lstStyle/>
          <a:p>
            <a:pPr algn="ctr"/>
            <a:r>
              <a:rPr lang="en-US" sz="2800" dirty="0"/>
              <a:t>libSBML</a:t>
            </a:r>
          </a:p>
        </p:txBody>
      </p:sp>
      <p:sp>
        <p:nvSpPr>
          <p:cNvPr id="50" name="TextBox 49">
            <a:extLst>
              <a:ext uri="{FF2B5EF4-FFF2-40B4-BE49-F238E27FC236}">
                <a16:creationId xmlns:a16="http://schemas.microsoft.com/office/drawing/2014/main" id="{8F66B2F5-B73E-63D9-BEBE-D56EAF78AB88}"/>
              </a:ext>
            </a:extLst>
          </p:cNvPr>
          <p:cNvSpPr txBox="1"/>
          <p:nvPr/>
        </p:nvSpPr>
        <p:spPr>
          <a:xfrm>
            <a:off x="2869403" y="25474014"/>
            <a:ext cx="2625697" cy="523220"/>
          </a:xfrm>
          <a:prstGeom prst="rect">
            <a:avLst/>
          </a:prstGeom>
          <a:noFill/>
        </p:spPr>
        <p:txBody>
          <a:bodyPr wrap="square" rtlCol="0">
            <a:spAutoFit/>
          </a:bodyPr>
          <a:lstStyle/>
          <a:p>
            <a:pPr algn="ctr"/>
            <a:r>
              <a:rPr lang="en-US" sz="2800" dirty="0"/>
              <a:t>PySimpleGUI</a:t>
            </a:r>
          </a:p>
        </p:txBody>
      </p:sp>
      <p:sp>
        <p:nvSpPr>
          <p:cNvPr id="51" name="TextBox 50">
            <a:extLst>
              <a:ext uri="{FF2B5EF4-FFF2-40B4-BE49-F238E27FC236}">
                <a16:creationId xmlns:a16="http://schemas.microsoft.com/office/drawing/2014/main" id="{66D48C0A-BCFB-7467-57D8-94ACC02EEE73}"/>
              </a:ext>
            </a:extLst>
          </p:cNvPr>
          <p:cNvSpPr txBox="1"/>
          <p:nvPr/>
        </p:nvSpPr>
        <p:spPr>
          <a:xfrm>
            <a:off x="9844778" y="22501915"/>
            <a:ext cx="1739591" cy="523220"/>
          </a:xfrm>
          <a:prstGeom prst="rect">
            <a:avLst/>
          </a:prstGeom>
          <a:noFill/>
        </p:spPr>
        <p:txBody>
          <a:bodyPr wrap="square" rtlCol="0">
            <a:spAutoFit/>
          </a:bodyPr>
          <a:lstStyle/>
          <a:p>
            <a:pPr algn="ctr"/>
            <a:r>
              <a:rPr lang="en-US" sz="2800" dirty="0"/>
              <a:t>NumPy</a:t>
            </a:r>
          </a:p>
        </p:txBody>
      </p:sp>
      <p:sp>
        <p:nvSpPr>
          <p:cNvPr id="52" name="TextBox 51">
            <a:extLst>
              <a:ext uri="{FF2B5EF4-FFF2-40B4-BE49-F238E27FC236}">
                <a16:creationId xmlns:a16="http://schemas.microsoft.com/office/drawing/2014/main" id="{F8588465-2D61-AB5C-DF52-82F1D73175C3}"/>
              </a:ext>
            </a:extLst>
          </p:cNvPr>
          <p:cNvSpPr txBox="1"/>
          <p:nvPr/>
        </p:nvSpPr>
        <p:spPr>
          <a:xfrm>
            <a:off x="6750198" y="22557484"/>
            <a:ext cx="1739591" cy="523220"/>
          </a:xfrm>
          <a:prstGeom prst="rect">
            <a:avLst/>
          </a:prstGeom>
          <a:noFill/>
        </p:spPr>
        <p:txBody>
          <a:bodyPr wrap="square" rtlCol="0">
            <a:spAutoFit/>
          </a:bodyPr>
          <a:lstStyle/>
          <a:p>
            <a:pPr algn="ctr"/>
            <a:r>
              <a:rPr lang="en-US" sz="2800" dirty="0"/>
              <a:t>PyMuPDF</a:t>
            </a:r>
          </a:p>
        </p:txBody>
      </p:sp>
      <p:sp>
        <p:nvSpPr>
          <p:cNvPr id="54" name="Bent-Up Arrow 53">
            <a:extLst>
              <a:ext uri="{FF2B5EF4-FFF2-40B4-BE49-F238E27FC236}">
                <a16:creationId xmlns:a16="http://schemas.microsoft.com/office/drawing/2014/main" id="{2AAFE079-8542-5A50-9672-FBF47673AB04}"/>
              </a:ext>
            </a:extLst>
          </p:cNvPr>
          <p:cNvSpPr/>
          <p:nvPr/>
        </p:nvSpPr>
        <p:spPr>
          <a:xfrm>
            <a:off x="26130611" y="26328415"/>
            <a:ext cx="1736916" cy="3579412"/>
          </a:xfrm>
          <a:prstGeom prst="bentUpArrow">
            <a:avLst>
              <a:gd name="adj1" fmla="val 25000"/>
              <a:gd name="adj2" fmla="val 25470"/>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Curved Down Arrow 54">
            <a:extLst>
              <a:ext uri="{FF2B5EF4-FFF2-40B4-BE49-F238E27FC236}">
                <a16:creationId xmlns:a16="http://schemas.microsoft.com/office/drawing/2014/main" id="{E12FD0B2-2F28-A7E1-79D2-3B65A0BAEC9C}"/>
              </a:ext>
            </a:extLst>
          </p:cNvPr>
          <p:cNvSpPr/>
          <p:nvPr/>
        </p:nvSpPr>
        <p:spPr>
          <a:xfrm>
            <a:off x="20666075" y="25740582"/>
            <a:ext cx="2384782" cy="1444612"/>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6" name="TextBox 55">
            <a:extLst>
              <a:ext uri="{FF2B5EF4-FFF2-40B4-BE49-F238E27FC236}">
                <a16:creationId xmlns:a16="http://schemas.microsoft.com/office/drawing/2014/main" id="{8E6F48F1-51B7-BB0E-A86A-38F347DE32AB}"/>
              </a:ext>
            </a:extLst>
          </p:cNvPr>
          <p:cNvSpPr txBox="1"/>
          <p:nvPr/>
        </p:nvSpPr>
        <p:spPr>
          <a:xfrm>
            <a:off x="20078991" y="24323320"/>
            <a:ext cx="3488695" cy="1384995"/>
          </a:xfrm>
          <a:prstGeom prst="rect">
            <a:avLst/>
          </a:prstGeom>
          <a:noFill/>
        </p:spPr>
        <p:txBody>
          <a:bodyPr wrap="square" rtlCol="0">
            <a:spAutoFit/>
          </a:bodyPr>
          <a:lstStyle/>
          <a:p>
            <a:pPr algn="ctr"/>
            <a:r>
              <a:rPr lang="en-US" sz="2800" dirty="0"/>
              <a:t>2a. Optional validation</a:t>
            </a:r>
          </a:p>
          <a:p>
            <a:pPr algn="ctr"/>
            <a:r>
              <a:rPr lang="en-US" sz="2800" dirty="0"/>
              <a:t>loop</a:t>
            </a:r>
          </a:p>
        </p:txBody>
      </p:sp>
      <p:sp>
        <p:nvSpPr>
          <p:cNvPr id="151" name="Rectangle 150">
            <a:extLst>
              <a:ext uri="{FF2B5EF4-FFF2-40B4-BE49-F238E27FC236}">
                <a16:creationId xmlns:a16="http://schemas.microsoft.com/office/drawing/2014/main" id="{CE7ACBA8-3D89-3AD9-DFE0-1CFFB6ED8DD1}"/>
              </a:ext>
            </a:extLst>
          </p:cNvPr>
          <p:cNvSpPr/>
          <p:nvPr/>
        </p:nvSpPr>
        <p:spPr>
          <a:xfrm>
            <a:off x="20666074" y="5865896"/>
            <a:ext cx="8019641" cy="3959915"/>
          </a:xfrm>
          <a:prstGeom prst="rect">
            <a:avLst/>
          </a:prstGeom>
          <a:solidFill>
            <a:srgbClr val="F8FBFD"/>
          </a:solidFill>
          <a:effectLst/>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dirty="0"/>
          </a:p>
        </p:txBody>
      </p:sp>
      <p:sp>
        <p:nvSpPr>
          <p:cNvPr id="58" name="Rounded Rectangle 57">
            <a:extLst>
              <a:ext uri="{FF2B5EF4-FFF2-40B4-BE49-F238E27FC236}">
                <a16:creationId xmlns:a16="http://schemas.microsoft.com/office/drawing/2014/main" id="{12DD65CB-1873-3097-4831-2808982BA6D6}"/>
              </a:ext>
            </a:extLst>
          </p:cNvPr>
          <p:cNvSpPr/>
          <p:nvPr/>
        </p:nvSpPr>
        <p:spPr>
          <a:xfrm>
            <a:off x="20881370" y="6239153"/>
            <a:ext cx="2065382" cy="1302994"/>
          </a:xfrm>
          <a:prstGeom prst="roundRect">
            <a:avLst/>
          </a:prstGeom>
          <a:solidFill>
            <a:srgbClr val="EAF6F5"/>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b="1" dirty="0">
                <a:solidFill>
                  <a:srgbClr val="4F7FA3"/>
                </a:solidFill>
              </a:rPr>
              <a:t>Image</a:t>
            </a:r>
          </a:p>
        </p:txBody>
      </p:sp>
      <p:sp>
        <p:nvSpPr>
          <p:cNvPr id="59" name="TextBox 58">
            <a:extLst>
              <a:ext uri="{FF2B5EF4-FFF2-40B4-BE49-F238E27FC236}">
                <a16:creationId xmlns:a16="http://schemas.microsoft.com/office/drawing/2014/main" id="{E9CF0EC8-E6D4-3B9C-4190-6CDF63924210}"/>
              </a:ext>
            </a:extLst>
          </p:cNvPr>
          <p:cNvSpPr txBox="1"/>
          <p:nvPr/>
        </p:nvSpPr>
        <p:spPr>
          <a:xfrm>
            <a:off x="20672729" y="5219565"/>
            <a:ext cx="6232797" cy="646331"/>
          </a:xfrm>
          <a:prstGeom prst="rect">
            <a:avLst/>
          </a:prstGeom>
          <a:noFill/>
        </p:spPr>
        <p:txBody>
          <a:bodyPr wrap="square" rtlCol="0">
            <a:spAutoFit/>
          </a:bodyPr>
          <a:lstStyle/>
          <a:p>
            <a:r>
              <a:rPr lang="en-US" sz="3600" b="1" dirty="0"/>
              <a:t>Wizard (this project)</a:t>
            </a:r>
          </a:p>
        </p:txBody>
      </p:sp>
      <p:sp>
        <p:nvSpPr>
          <p:cNvPr id="60" name="Rounded Rectangle 59">
            <a:extLst>
              <a:ext uri="{FF2B5EF4-FFF2-40B4-BE49-F238E27FC236}">
                <a16:creationId xmlns:a16="http://schemas.microsoft.com/office/drawing/2014/main" id="{49001387-15CA-BFC2-8066-59E604C37744}"/>
              </a:ext>
            </a:extLst>
          </p:cNvPr>
          <p:cNvSpPr/>
          <p:nvPr/>
        </p:nvSpPr>
        <p:spPr>
          <a:xfrm>
            <a:off x="20881370" y="8192639"/>
            <a:ext cx="2065382" cy="1302994"/>
          </a:xfrm>
          <a:prstGeom prst="roundRect">
            <a:avLst/>
          </a:prstGeom>
          <a:solidFill>
            <a:srgbClr val="EAF6F5"/>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b="1" dirty="0">
                <a:solidFill>
                  <a:srgbClr val="4F7FA3"/>
                </a:solidFill>
              </a:rPr>
              <a:t>Manuscript</a:t>
            </a:r>
          </a:p>
        </p:txBody>
      </p:sp>
      <p:sp>
        <p:nvSpPr>
          <p:cNvPr id="136" name="Rounded Rectangle 135">
            <a:extLst>
              <a:ext uri="{FF2B5EF4-FFF2-40B4-BE49-F238E27FC236}">
                <a16:creationId xmlns:a16="http://schemas.microsoft.com/office/drawing/2014/main" id="{48775F59-51CB-323A-1C29-BE9CB65F976A}"/>
              </a:ext>
            </a:extLst>
          </p:cNvPr>
          <p:cNvSpPr/>
          <p:nvPr/>
        </p:nvSpPr>
        <p:spPr>
          <a:xfrm>
            <a:off x="26411420" y="7207585"/>
            <a:ext cx="2065382" cy="1302994"/>
          </a:xfrm>
          <a:prstGeom prst="roundRect">
            <a:avLst/>
          </a:prstGeom>
          <a:solidFill>
            <a:srgbClr val="EAF6F5"/>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b="1" dirty="0">
                <a:solidFill>
                  <a:srgbClr val="4F7FA3"/>
                </a:solidFill>
              </a:rPr>
              <a:t>SBML Multi File</a:t>
            </a:r>
          </a:p>
        </p:txBody>
      </p:sp>
      <p:pic>
        <p:nvPicPr>
          <p:cNvPr id="153" name="Picture 152">
            <a:extLst>
              <a:ext uri="{FF2B5EF4-FFF2-40B4-BE49-F238E27FC236}">
                <a16:creationId xmlns:a16="http://schemas.microsoft.com/office/drawing/2014/main" id="{8737D728-4FE2-6A31-4C59-D4085A02A2AD}"/>
              </a:ext>
            </a:extLst>
          </p:cNvPr>
          <p:cNvPicPr>
            <a:picLocks noChangeAspect="1"/>
          </p:cNvPicPr>
          <p:nvPr/>
        </p:nvPicPr>
        <p:blipFill>
          <a:blip r:embed="rId18"/>
          <a:stretch>
            <a:fillRect/>
          </a:stretch>
        </p:blipFill>
        <p:spPr>
          <a:xfrm>
            <a:off x="16231739" y="10081056"/>
            <a:ext cx="11183198" cy="6150130"/>
          </a:xfrm>
          <a:prstGeom prst="rect">
            <a:avLst/>
          </a:prstGeom>
        </p:spPr>
      </p:pic>
      <p:cxnSp>
        <p:nvCxnSpPr>
          <p:cNvPr id="137" name="Straight Arrow Connector 136">
            <a:extLst>
              <a:ext uri="{FF2B5EF4-FFF2-40B4-BE49-F238E27FC236}">
                <a16:creationId xmlns:a16="http://schemas.microsoft.com/office/drawing/2014/main" id="{F300A08B-C4AF-C559-D2D6-2AADEB4513F3}"/>
              </a:ext>
            </a:extLst>
          </p:cNvPr>
          <p:cNvCxnSpPr>
            <a:cxnSpLocks/>
          </p:cNvCxnSpPr>
          <p:nvPr/>
        </p:nvCxnSpPr>
        <p:spPr>
          <a:xfrm flipH="1">
            <a:off x="21858466" y="8843617"/>
            <a:ext cx="5572491" cy="4029766"/>
          </a:xfrm>
          <a:prstGeom prst="straightConnector1">
            <a:avLst/>
          </a:prstGeom>
          <a:ln w="28575">
            <a:solidFill>
              <a:srgbClr val="4E7EA3"/>
            </a:solidFill>
            <a:prstDash val="lgDash"/>
            <a:headEnd w="med" len="lg"/>
            <a:tailEnd type="triangle" w="lg" len="lg"/>
          </a:ln>
        </p:spPr>
        <p:style>
          <a:lnRef idx="2">
            <a:schemeClr val="dk1"/>
          </a:lnRef>
          <a:fillRef idx="0">
            <a:schemeClr val="dk1"/>
          </a:fillRef>
          <a:effectRef idx="1">
            <a:schemeClr val="dk1"/>
          </a:effectRef>
          <a:fontRef idx="minor">
            <a:schemeClr val="tx1"/>
          </a:fontRef>
        </p:style>
      </p:cxnSp>
      <p:sp>
        <p:nvSpPr>
          <p:cNvPr id="158" name="TextBox 157">
            <a:extLst>
              <a:ext uri="{FF2B5EF4-FFF2-40B4-BE49-F238E27FC236}">
                <a16:creationId xmlns:a16="http://schemas.microsoft.com/office/drawing/2014/main" id="{5A50DEEB-483F-F3F8-18C4-30ACAA366FA1}"/>
              </a:ext>
            </a:extLst>
          </p:cNvPr>
          <p:cNvSpPr txBox="1"/>
          <p:nvPr/>
        </p:nvSpPr>
        <p:spPr>
          <a:xfrm>
            <a:off x="3482897" y="26926233"/>
            <a:ext cx="8642727" cy="523220"/>
          </a:xfrm>
          <a:prstGeom prst="rect">
            <a:avLst/>
          </a:prstGeom>
          <a:noFill/>
        </p:spPr>
        <p:txBody>
          <a:bodyPr wrap="square" rtlCol="0">
            <a:spAutoFit/>
          </a:bodyPr>
          <a:lstStyle/>
          <a:p>
            <a:r>
              <a:rPr lang="en-US" sz="2800" dirty="0"/>
              <a:t>gemma3                qwen3-embedding                 GPT 5.5</a:t>
            </a:r>
          </a:p>
        </p:txBody>
      </p:sp>
      <p:pic>
        <p:nvPicPr>
          <p:cNvPr id="41" name="Picture 40">
            <a:extLst>
              <a:ext uri="{FF2B5EF4-FFF2-40B4-BE49-F238E27FC236}">
                <a16:creationId xmlns:a16="http://schemas.microsoft.com/office/drawing/2014/main" id="{472411E9-F605-FFF4-DBA9-24CAA3D008F1}"/>
              </a:ext>
            </a:extLst>
          </p:cNvPr>
          <p:cNvPicPr>
            <a:picLocks noChangeAspect="1"/>
          </p:cNvPicPr>
          <p:nvPr/>
        </p:nvPicPr>
        <p:blipFill>
          <a:blip r:embed="rId19"/>
          <a:stretch>
            <a:fillRect/>
          </a:stretch>
        </p:blipFill>
        <p:spPr>
          <a:xfrm>
            <a:off x="15424281" y="5865896"/>
            <a:ext cx="4818408" cy="3959915"/>
          </a:xfrm>
          <a:prstGeom prst="rect">
            <a:avLst/>
          </a:prstGeom>
        </p:spPr>
      </p:pic>
      <p:sp>
        <p:nvSpPr>
          <p:cNvPr id="131" name="Rounded Rectangle 130">
            <a:extLst>
              <a:ext uri="{FF2B5EF4-FFF2-40B4-BE49-F238E27FC236}">
                <a16:creationId xmlns:a16="http://schemas.microsoft.com/office/drawing/2014/main" id="{2FD1FBAB-4C10-22DB-729D-FB4B5C515FD7}"/>
              </a:ext>
            </a:extLst>
          </p:cNvPr>
          <p:cNvSpPr/>
          <p:nvPr/>
        </p:nvSpPr>
        <p:spPr>
          <a:xfrm>
            <a:off x="23575471" y="7227344"/>
            <a:ext cx="2065382" cy="1302994"/>
          </a:xfrm>
          <a:prstGeom prst="roundRect">
            <a:avLst/>
          </a:prstGeom>
          <a:solidFill>
            <a:srgbClr val="EAF6F5"/>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b="1" dirty="0">
                <a:solidFill>
                  <a:srgbClr val="4F7FA3"/>
                </a:solidFill>
              </a:rPr>
              <a:t>LLM</a:t>
            </a:r>
          </a:p>
        </p:txBody>
      </p:sp>
      <p:cxnSp>
        <p:nvCxnSpPr>
          <p:cNvPr id="149" name="Straight Connector 148">
            <a:extLst>
              <a:ext uri="{FF2B5EF4-FFF2-40B4-BE49-F238E27FC236}">
                <a16:creationId xmlns:a16="http://schemas.microsoft.com/office/drawing/2014/main" id="{5EB36BDD-56BD-6819-6BC9-29558A2EC128}"/>
              </a:ext>
            </a:extLst>
          </p:cNvPr>
          <p:cNvCxnSpPr>
            <a:cxnSpLocks/>
          </p:cNvCxnSpPr>
          <p:nvPr/>
        </p:nvCxnSpPr>
        <p:spPr>
          <a:xfrm flipV="1">
            <a:off x="18442305" y="9815945"/>
            <a:ext cx="1788795" cy="181408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150" name="Straight Connector 149">
            <a:extLst>
              <a:ext uri="{FF2B5EF4-FFF2-40B4-BE49-F238E27FC236}">
                <a16:creationId xmlns:a16="http://schemas.microsoft.com/office/drawing/2014/main" id="{29083602-5873-C749-F9F3-6951D18A6277}"/>
              </a:ext>
            </a:extLst>
          </p:cNvPr>
          <p:cNvCxnSpPr>
            <a:cxnSpLocks/>
          </p:cNvCxnSpPr>
          <p:nvPr/>
        </p:nvCxnSpPr>
        <p:spPr>
          <a:xfrm flipH="1" flipV="1">
            <a:off x="15430500" y="9819409"/>
            <a:ext cx="1914525" cy="1804901"/>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171" name="TextBox 170">
            <a:extLst>
              <a:ext uri="{FF2B5EF4-FFF2-40B4-BE49-F238E27FC236}">
                <a16:creationId xmlns:a16="http://schemas.microsoft.com/office/drawing/2014/main" id="{160071B2-2EA7-48E6-D1D5-422E3774C770}"/>
              </a:ext>
            </a:extLst>
          </p:cNvPr>
          <p:cNvSpPr txBox="1"/>
          <p:nvPr/>
        </p:nvSpPr>
        <p:spPr>
          <a:xfrm>
            <a:off x="15436083" y="5205733"/>
            <a:ext cx="4332231" cy="646331"/>
          </a:xfrm>
          <a:prstGeom prst="rect">
            <a:avLst/>
          </a:prstGeom>
          <a:noFill/>
        </p:spPr>
        <p:txBody>
          <a:bodyPr wrap="square" rtlCol="0">
            <a:spAutoFit/>
          </a:bodyPr>
          <a:lstStyle/>
          <a:p>
            <a:r>
              <a:rPr lang="en-US" sz="3600" b="1" dirty="0"/>
              <a:t>Simmune Model</a:t>
            </a:r>
          </a:p>
        </p:txBody>
      </p:sp>
      <p:sp>
        <p:nvSpPr>
          <p:cNvPr id="188" name="Plus 187">
            <a:extLst>
              <a:ext uri="{FF2B5EF4-FFF2-40B4-BE49-F238E27FC236}">
                <a16:creationId xmlns:a16="http://schemas.microsoft.com/office/drawing/2014/main" id="{31CA10AC-AE07-63C5-DDF5-B82C75D74D6D}"/>
              </a:ext>
            </a:extLst>
          </p:cNvPr>
          <p:cNvSpPr/>
          <p:nvPr/>
        </p:nvSpPr>
        <p:spPr>
          <a:xfrm>
            <a:off x="21660061" y="7616834"/>
            <a:ext cx="508000" cy="501117"/>
          </a:xfrm>
          <a:prstGeom prst="mathPlus">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1" name="TextBox 190">
            <a:extLst>
              <a:ext uri="{FF2B5EF4-FFF2-40B4-BE49-F238E27FC236}">
                <a16:creationId xmlns:a16="http://schemas.microsoft.com/office/drawing/2014/main" id="{0F952130-F20F-D3F6-AF78-7E8F8C126A83}"/>
              </a:ext>
            </a:extLst>
          </p:cNvPr>
          <p:cNvSpPr txBox="1"/>
          <p:nvPr/>
        </p:nvSpPr>
        <p:spPr>
          <a:xfrm>
            <a:off x="18252994" y="29356583"/>
            <a:ext cx="3993770" cy="769441"/>
          </a:xfrm>
          <a:prstGeom prst="rect">
            <a:avLst/>
          </a:prstGeom>
          <a:noFill/>
        </p:spPr>
        <p:txBody>
          <a:bodyPr wrap="square" rtlCol="0">
            <a:spAutoFit/>
          </a:bodyPr>
          <a:lstStyle/>
          <a:p>
            <a:pPr algn="ctr"/>
            <a:r>
              <a:rPr lang="en-US" sz="4400" b="1" dirty="0">
                <a:solidFill>
                  <a:schemeClr val="accent1">
                    <a:lumMod val="75000"/>
                    <a:alpha val="50185"/>
                  </a:schemeClr>
                </a:solidFill>
              </a:rPr>
              <a:t>SBML Multi</a:t>
            </a:r>
          </a:p>
        </p:txBody>
      </p:sp>
      <p:sp>
        <p:nvSpPr>
          <p:cNvPr id="192" name="Right Arrow 191">
            <a:extLst>
              <a:ext uri="{FF2B5EF4-FFF2-40B4-BE49-F238E27FC236}">
                <a16:creationId xmlns:a16="http://schemas.microsoft.com/office/drawing/2014/main" id="{4AB4CD87-A07D-D26E-E89E-5499020B08EC}"/>
              </a:ext>
            </a:extLst>
          </p:cNvPr>
          <p:cNvSpPr/>
          <p:nvPr/>
        </p:nvSpPr>
        <p:spPr>
          <a:xfrm>
            <a:off x="22918463" y="7717992"/>
            <a:ext cx="558634" cy="278239"/>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3" name="Right Arrow 192">
            <a:extLst>
              <a:ext uri="{FF2B5EF4-FFF2-40B4-BE49-F238E27FC236}">
                <a16:creationId xmlns:a16="http://schemas.microsoft.com/office/drawing/2014/main" id="{D84AF99E-128F-1285-D540-D458D20B2AB3}"/>
              </a:ext>
            </a:extLst>
          </p:cNvPr>
          <p:cNvSpPr/>
          <p:nvPr/>
        </p:nvSpPr>
        <p:spPr>
          <a:xfrm>
            <a:off x="25772171" y="7717992"/>
            <a:ext cx="558634" cy="278239"/>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TextBox 6">
            <a:extLst>
              <a:ext uri="{FF2B5EF4-FFF2-40B4-BE49-F238E27FC236}">
                <a16:creationId xmlns:a16="http://schemas.microsoft.com/office/drawing/2014/main" id="{92C1FB72-8B6A-008B-074E-ECAD866E7B15}"/>
              </a:ext>
            </a:extLst>
          </p:cNvPr>
          <p:cNvSpPr txBox="1"/>
          <p:nvPr/>
        </p:nvSpPr>
        <p:spPr>
          <a:xfrm>
            <a:off x="30431833" y="10442199"/>
            <a:ext cx="4533900" cy="615553"/>
          </a:xfrm>
          <a:prstGeom prst="rect">
            <a:avLst/>
          </a:prstGeom>
          <a:noFill/>
        </p:spPr>
        <p:txBody>
          <a:bodyPr wrap="square" rtlCol="0">
            <a:spAutoFit/>
          </a:bodyPr>
          <a:lstStyle/>
          <a:p>
            <a:pPr marL="285750" indent="-285750">
              <a:buFont typeface="Courier New" panose="02070309020205020404" pitchFamily="49" charset="0"/>
              <a:buChar char="o"/>
            </a:pPr>
            <a:r>
              <a:rPr lang="en-US" sz="3400" dirty="0"/>
              <a:t>  Few shot prompting</a:t>
            </a:r>
          </a:p>
        </p:txBody>
      </p:sp>
      <p:sp>
        <p:nvSpPr>
          <p:cNvPr id="13" name="TextBox 12">
            <a:extLst>
              <a:ext uri="{FF2B5EF4-FFF2-40B4-BE49-F238E27FC236}">
                <a16:creationId xmlns:a16="http://schemas.microsoft.com/office/drawing/2014/main" id="{B5D718DE-1ED3-6F43-9F45-0FD3D62F7D99}"/>
              </a:ext>
            </a:extLst>
          </p:cNvPr>
          <p:cNvSpPr txBox="1"/>
          <p:nvPr/>
        </p:nvSpPr>
        <p:spPr>
          <a:xfrm>
            <a:off x="30431832" y="12611783"/>
            <a:ext cx="8201567" cy="615553"/>
          </a:xfrm>
          <a:prstGeom prst="rect">
            <a:avLst/>
          </a:prstGeom>
          <a:noFill/>
        </p:spPr>
        <p:txBody>
          <a:bodyPr wrap="square" rtlCol="0">
            <a:spAutoFit/>
          </a:bodyPr>
          <a:lstStyle/>
          <a:p>
            <a:pPr marL="285750" indent="-285750">
              <a:buFont typeface="Courier New" panose="02070309020205020404" pitchFamily="49" charset="0"/>
              <a:buChar char="o"/>
            </a:pPr>
            <a:r>
              <a:rPr lang="en-US" sz="3400" dirty="0"/>
              <a:t>  Retrieval augmented generation (RAG)</a:t>
            </a:r>
          </a:p>
        </p:txBody>
      </p:sp>
      <p:sp>
        <p:nvSpPr>
          <p:cNvPr id="32" name="TextBox 31">
            <a:extLst>
              <a:ext uri="{FF2B5EF4-FFF2-40B4-BE49-F238E27FC236}">
                <a16:creationId xmlns:a16="http://schemas.microsoft.com/office/drawing/2014/main" id="{5C94F7FD-C997-D732-B9AC-D24EE2A318E6}"/>
              </a:ext>
            </a:extLst>
          </p:cNvPr>
          <p:cNvSpPr txBox="1"/>
          <p:nvPr/>
        </p:nvSpPr>
        <p:spPr>
          <a:xfrm>
            <a:off x="30454258" y="8421540"/>
            <a:ext cx="4533900" cy="615553"/>
          </a:xfrm>
          <a:prstGeom prst="rect">
            <a:avLst/>
          </a:prstGeom>
          <a:noFill/>
        </p:spPr>
        <p:txBody>
          <a:bodyPr wrap="square" rtlCol="0">
            <a:spAutoFit/>
          </a:bodyPr>
          <a:lstStyle/>
          <a:p>
            <a:pPr marL="285750" indent="-285750">
              <a:buFont typeface="Courier New" panose="02070309020205020404" pitchFamily="49" charset="0"/>
              <a:buChar char="o"/>
            </a:pPr>
            <a:r>
              <a:rPr lang="en-US" sz="3400" dirty="0"/>
              <a:t>  Prompt engineering</a:t>
            </a:r>
          </a:p>
        </p:txBody>
      </p:sp>
    </p:spTree>
    <p:extLst>
      <p:ext uri="{BB962C8B-B14F-4D97-AF65-F5344CB8AC3E}">
        <p14:creationId xmlns:p14="http://schemas.microsoft.com/office/powerpoint/2010/main" val="986386614"/>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4b77578-9773-42d5-8507-251ca2dc2b06}" enabled="0" method="" siteId="{14b77578-9773-42d5-8507-251ca2dc2b06}" removed="1"/>
</clbl:labelList>
</file>

<file path=docProps/app.xml><?xml version="1.0" encoding="utf-8"?>
<Properties xmlns="http://schemas.openxmlformats.org/officeDocument/2006/extended-properties" xmlns:vt="http://schemas.openxmlformats.org/officeDocument/2006/docPropsVTypes">
  <Template>Office Theme</Template>
  <TotalTime>13259</TotalTime>
  <Words>859</Words>
  <Application>Microsoft Macintosh PowerPoint</Application>
  <PresentationFormat>Custom</PresentationFormat>
  <Paragraphs>90</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 Display</vt:lpstr>
      <vt:lpstr>Arial</vt:lpstr>
      <vt:lpstr>Aptos</vt:lpstr>
      <vt:lpstr>Wingdings</vt:lpstr>
      <vt:lpstr>Courier New</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Zhu, Ethan (NIH/NIAID) [F]</dc:creator>
  <cp:lastModifiedBy>Zhu, Ethan (NIH/NIAID) [F]</cp:lastModifiedBy>
  <cp:revision>16</cp:revision>
  <cp:lastPrinted>2026-08-03T20:43:38Z</cp:lastPrinted>
  <dcterms:created xsi:type="dcterms:W3CDTF">2026-07-20T14:33:11Z</dcterms:created>
  <dcterms:modified xsi:type="dcterms:W3CDTF">2026-08-04T14:00:06Z</dcterms:modified>
</cp:coreProperties>
</file>