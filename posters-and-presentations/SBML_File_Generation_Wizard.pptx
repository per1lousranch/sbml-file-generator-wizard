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Inter"/>
      <p:regular r:id="rId36"/>
      <p:bold r:id="rId37"/>
      <p:italic r:id="rId38"/>
      <p:boldItalic r:id="rId39"/>
    </p:embeddedFont>
    <p:embeddedFont>
      <p:font typeface="PT Sans"/>
      <p:regular r:id="rId40"/>
      <p:bold r:id="rId41"/>
      <p:italic r:id="rId42"/>
      <p:boldItalic r:id="rId43"/>
    </p:embeddedFont>
    <p:embeddedFont>
      <p:font typeface="Inter Medium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regular.fntdata"/><Relationship Id="rId42" Type="http://schemas.openxmlformats.org/officeDocument/2006/relationships/font" Target="fonts/PTSans-italic.fntdata"/><Relationship Id="rId41" Type="http://schemas.openxmlformats.org/officeDocument/2006/relationships/font" Target="fonts/PTSans-bold.fntdata"/><Relationship Id="rId44" Type="http://schemas.openxmlformats.org/officeDocument/2006/relationships/font" Target="fonts/InterMedium-regular.fntdata"/><Relationship Id="rId43" Type="http://schemas.openxmlformats.org/officeDocument/2006/relationships/font" Target="fonts/PTSans-boldItalic.fntdata"/><Relationship Id="rId46" Type="http://schemas.openxmlformats.org/officeDocument/2006/relationships/font" Target="fonts/InterMedium-italic.fntdata"/><Relationship Id="rId45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regular.fntdata"/><Relationship Id="rId47" Type="http://schemas.openxmlformats.org/officeDocument/2006/relationships/font" Target="fonts/InterMedium-boldItalic.fntdata"/><Relationship Id="rId4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Inter-bold.fntdata"/><Relationship Id="rId36" Type="http://schemas.openxmlformats.org/officeDocument/2006/relationships/font" Target="fonts/Inter-regular.fntdata"/><Relationship Id="rId39" Type="http://schemas.openxmlformats.org/officeDocument/2006/relationships/font" Target="fonts/Inter-boldItalic.fntdata"/><Relationship Id="rId38" Type="http://schemas.openxmlformats.org/officeDocument/2006/relationships/font" Target="fonts/Inter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8300ce3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8300ce3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8300ce3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8300ce3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3de64f5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3de64f5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53de64f5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53de64f5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53de64f5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53de64f5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53de64f55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53de64f5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3de64f5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53de64f5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3de64f5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53de64f5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53de64f5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53de64f5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3de64f5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53de64f5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7e906a12e_0_14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7e906a12e_0_14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9633a7f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a9633a7f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d8ecacb7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d8ecacb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d8ecacb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d8ecacb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d8ecacb7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d8ecacb7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d8ecacb7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ed8ecacb7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d8ecacb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d8ecac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d8ecacb7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d8ecacb7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DESCIRBE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d8ecacb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d8ecacb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d8ecacb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d8ecacb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53de64f55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53de64f55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d8ecacb7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d8ecacb7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720000" y="3318362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subTitle"/>
          </p:nvPr>
        </p:nvSpPr>
        <p:spPr>
          <a:xfrm>
            <a:off x="719975" y="1734787"/>
            <a:ext cx="46614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719975" y="1379888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4" type="subTitle"/>
          </p:nvPr>
        </p:nvSpPr>
        <p:spPr>
          <a:xfrm>
            <a:off x="719975" y="2963463"/>
            <a:ext cx="46614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" name="Google Shape;28;p5"/>
          <p:cNvSpPr/>
          <p:nvPr>
            <p:ph idx="5" type="pic"/>
          </p:nvPr>
        </p:nvSpPr>
        <p:spPr>
          <a:xfrm>
            <a:off x="5696375" y="1379900"/>
            <a:ext cx="2727600" cy="28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2" type="title"/>
          </p:nvPr>
        </p:nvSpPr>
        <p:spPr>
          <a:xfrm>
            <a:off x="713225" y="140086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3" type="title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4" type="title"/>
          </p:nvPr>
        </p:nvSpPr>
        <p:spPr>
          <a:xfrm>
            <a:off x="713225" y="2472438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5" type="title"/>
          </p:nvPr>
        </p:nvSpPr>
        <p:spPr>
          <a:xfrm>
            <a:off x="4223200" y="2472414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6" type="title"/>
          </p:nvPr>
        </p:nvSpPr>
        <p:spPr>
          <a:xfrm>
            <a:off x="713225" y="3544013"/>
            <a:ext cx="5778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7" type="title"/>
          </p:nvPr>
        </p:nvSpPr>
        <p:spPr>
          <a:xfrm>
            <a:off x="4223200" y="3543989"/>
            <a:ext cx="576000" cy="6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8" type="subTitle"/>
          </p:nvPr>
        </p:nvSpPr>
        <p:spPr>
          <a:xfrm>
            <a:off x="1292489" y="2472433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9" type="subTitle"/>
          </p:nvPr>
        </p:nvSpPr>
        <p:spPr>
          <a:xfrm>
            <a:off x="1292489" y="3544000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3" type="subTitle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4" type="subTitle"/>
          </p:nvPr>
        </p:nvSpPr>
        <p:spPr>
          <a:xfrm>
            <a:off x="4799202" y="2472431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5" type="subTitle"/>
          </p:nvPr>
        </p:nvSpPr>
        <p:spPr>
          <a:xfrm>
            <a:off x="4799202" y="354399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>
            <p:ph idx="2" type="pic"/>
          </p:nvPr>
        </p:nvSpPr>
        <p:spPr>
          <a:xfrm>
            <a:off x="4709525" y="445775"/>
            <a:ext cx="3721200" cy="4251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" name="Google Shape;91;p18"/>
          <p:cNvSpPr txBox="1"/>
          <p:nvPr>
            <p:ph hasCustomPrompt="1"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8"/>
          <p:cNvSpPr txBox="1"/>
          <p:nvPr>
            <p:ph hasCustomPrompt="1"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/>
          <p:nvPr>
            <p:ph hasCustomPrompt="1"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subTitle"/>
          </p:nvPr>
        </p:nvSpPr>
        <p:spPr>
          <a:xfrm>
            <a:off x="4398464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19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20"/>
          <p:cNvSpPr txBox="1"/>
          <p:nvPr>
            <p:ph hasCustomPrompt="1" type="title"/>
          </p:nvPr>
        </p:nvSpPr>
        <p:spPr>
          <a:xfrm>
            <a:off x="713213" y="196115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713213" y="268534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hasCustomPrompt="1" idx="2" type="title"/>
          </p:nvPr>
        </p:nvSpPr>
        <p:spPr>
          <a:xfrm>
            <a:off x="713222" y="615705"/>
            <a:ext cx="5241300" cy="9543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20"/>
          <p:cNvSpPr txBox="1"/>
          <p:nvPr>
            <p:ph idx="3" type="subTitle"/>
          </p:nvPr>
        </p:nvSpPr>
        <p:spPr>
          <a:xfrm>
            <a:off x="713222" y="1493803"/>
            <a:ext cx="5241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hasCustomPrompt="1" idx="4" type="title"/>
          </p:nvPr>
        </p:nvSpPr>
        <p:spPr>
          <a:xfrm>
            <a:off x="713213" y="3121801"/>
            <a:ext cx="3492600" cy="800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/>
          <p:nvPr>
            <p:ph idx="5" type="subTitle"/>
          </p:nvPr>
        </p:nvSpPr>
        <p:spPr>
          <a:xfrm>
            <a:off x="713213" y="3845995"/>
            <a:ext cx="3492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b="1"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flipH="1" rot="10800000">
            <a:off x="117900" y="119100"/>
            <a:ext cx="8908200" cy="4731900"/>
          </a:xfrm>
          <a:prstGeom prst="roundRect">
            <a:avLst>
              <a:gd fmla="val 17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677225" y="1390975"/>
            <a:ext cx="54078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SBML File Generation Wizard</a:t>
            </a:r>
            <a:endParaRPr sz="5400"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677226" y="3438772"/>
            <a:ext cx="63501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locally-hosted Ollama &amp; frontier models, prompt engineering, and retrieval-augmented generation (RAG) to generate SBML files from signaling pathway images.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33" name="Google Shape;133;p25"/>
          <p:cNvSpPr txBox="1"/>
          <p:nvPr>
            <p:ph idx="2" type="title"/>
          </p:nvPr>
        </p:nvSpPr>
        <p:spPr>
          <a:xfrm>
            <a:off x="720000" y="2344538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134" name="Google Shape;134;p25"/>
          <p:cNvSpPr txBox="1"/>
          <p:nvPr>
            <p:ph idx="4" type="title"/>
          </p:nvPr>
        </p:nvSpPr>
        <p:spPr>
          <a:xfrm>
            <a:off x="720000" y="3363851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135" name="Google Shape;135;p25"/>
          <p:cNvSpPr txBox="1"/>
          <p:nvPr>
            <p:ph idx="6" type="title"/>
          </p:nvPr>
        </p:nvSpPr>
        <p:spPr>
          <a:xfrm>
            <a:off x="4222300" y="1400863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136" name="Google Shape;136;p25"/>
          <p:cNvSpPr txBox="1"/>
          <p:nvPr>
            <p:ph idx="7" type="title"/>
          </p:nvPr>
        </p:nvSpPr>
        <p:spPr>
          <a:xfrm>
            <a:off x="4223200" y="2344539"/>
            <a:ext cx="5760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137" name="Google Shape;137;p25"/>
          <p:cNvSpPr txBox="1"/>
          <p:nvPr>
            <p:ph idx="1" type="subTitle"/>
          </p:nvPr>
        </p:nvSpPr>
        <p:spPr>
          <a:xfrm>
            <a:off x="1247789" y="2344542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&amp; optimization</a:t>
            </a:r>
            <a:endParaRPr/>
          </a:p>
        </p:txBody>
      </p:sp>
      <p:sp>
        <p:nvSpPr>
          <p:cNvPr id="138" name="Google Shape;138;p25"/>
          <p:cNvSpPr txBox="1"/>
          <p:nvPr>
            <p:ph idx="8" type="subTitle"/>
          </p:nvPr>
        </p:nvSpPr>
        <p:spPr>
          <a:xfrm>
            <a:off x="1247789" y="336384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Drafting a potential solution</a:t>
            </a:r>
            <a:endParaRPr/>
          </a:p>
        </p:txBody>
      </p:sp>
      <p:sp>
        <p:nvSpPr>
          <p:cNvPr id="139" name="Google Shape;139;p25"/>
          <p:cNvSpPr txBox="1"/>
          <p:nvPr>
            <p:ph idx="9" type="subTitle"/>
          </p:nvPr>
        </p:nvSpPr>
        <p:spPr>
          <a:xfrm>
            <a:off x="4799189" y="1400875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showcase and demonstration</a:t>
            </a:r>
            <a:endParaRPr/>
          </a:p>
        </p:txBody>
      </p:sp>
      <p:sp>
        <p:nvSpPr>
          <p:cNvPr id="140" name="Google Shape;140;p25"/>
          <p:cNvSpPr txBox="1"/>
          <p:nvPr>
            <p:ph idx="15" type="subTitle"/>
          </p:nvPr>
        </p:nvSpPr>
        <p:spPr>
          <a:xfrm>
            <a:off x="4799202" y="2344546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</a:t>
            </a:r>
            <a:endParaRPr/>
          </a:p>
        </p:txBody>
      </p:sp>
      <p:sp>
        <p:nvSpPr>
          <p:cNvPr id="141" name="Google Shape;141;p25"/>
          <p:cNvSpPr txBox="1"/>
          <p:nvPr>
            <p:ph idx="2" type="title"/>
          </p:nvPr>
        </p:nvSpPr>
        <p:spPr>
          <a:xfrm>
            <a:off x="720000" y="1400863"/>
            <a:ext cx="5778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142" name="Google Shape;142;p25"/>
          <p:cNvSpPr txBox="1"/>
          <p:nvPr>
            <p:ph idx="1" type="subTitle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problem</a:t>
            </a:r>
            <a:endParaRPr/>
          </a:p>
        </p:txBody>
      </p:sp>
      <p:sp>
        <p:nvSpPr>
          <p:cNvPr id="148" name="Google Shape;148;p26"/>
          <p:cNvSpPr txBox="1"/>
          <p:nvPr>
            <p:ph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9" name="Google Shape;149;p26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Featuring Fred!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 title="a-black-silhouette-of-a-man-standing-icon-isolated-free-png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450" y="1003200"/>
            <a:ext cx="2902454" cy="334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/>
          <p:nvPr/>
        </p:nvSpPr>
        <p:spPr>
          <a:xfrm>
            <a:off x="1934211" y="2298439"/>
            <a:ext cx="14718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861600" y="2222700"/>
            <a:ext cx="1330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Fred</a:t>
            </a:r>
            <a:endParaRPr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423" y="1198463"/>
            <a:ext cx="4875150" cy="274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a-black-silhouette-of-a-man-standing-icon-isolated-free-png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78276">
            <a:off x="599025" y="1936525"/>
            <a:ext cx="2342750" cy="27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95143">
            <a:off x="1118108" y="2162080"/>
            <a:ext cx="315536" cy="24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132906">
            <a:off x="1384283" y="2006804"/>
            <a:ext cx="315536" cy="241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423" y="1198463"/>
            <a:ext cx="4875150" cy="274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 title="a-black-silhouette-of-a-man-standing-icon-isolated-free-png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78276">
            <a:off x="599025" y="1936525"/>
            <a:ext cx="2342750" cy="27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95143">
            <a:off x="1118108" y="2162080"/>
            <a:ext cx="315536" cy="241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132906">
            <a:off x="1384283" y="2006804"/>
            <a:ext cx="315536" cy="241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6697" y="1759300"/>
            <a:ext cx="1829628" cy="2856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012" y="1265550"/>
            <a:ext cx="5537976" cy="2612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 title="a-black-silhouette-of-a-man-standing-icon-isolated-free-png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121277">
            <a:off x="6503050" y="358700"/>
            <a:ext cx="2342750" cy="270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 title="steam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98925">
            <a:off x="6289479" y="-65602"/>
            <a:ext cx="2484169" cy="1397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1" title="pngtree-cash-paper-banknote-money-cash-heap-pile-and-stack-money-png-image_1219287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1125" y="1570675"/>
            <a:ext cx="2134325" cy="21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525" y="1295600"/>
            <a:ext cx="4029426" cy="2684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 title="a-black-silhouette-of-a-man-standing-icon-isolated-free-png-removebg-preview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121277">
            <a:off x="6503050" y="358700"/>
            <a:ext cx="2342750" cy="270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 title="steam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998925">
            <a:off x="6289479" y="-65602"/>
            <a:ext cx="2484169" cy="1397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25" y="397950"/>
            <a:ext cx="4065074" cy="27688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1086975" y="3221575"/>
            <a:ext cx="2566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Simmune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5473913" y="1837325"/>
            <a:ext cx="25668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BioNetGen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3674" y="2360600"/>
            <a:ext cx="4367299" cy="234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676900" y="96675"/>
            <a:ext cx="7717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SBML File Generator Wizard</a:t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825" y="1859425"/>
            <a:ext cx="2294025" cy="185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475" y="896863"/>
            <a:ext cx="2581199" cy="21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0614" y="3129150"/>
            <a:ext cx="3542932" cy="15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/>
          <p:nvPr/>
        </p:nvSpPr>
        <p:spPr>
          <a:xfrm rot="-1312508">
            <a:off x="3577461" y="1962917"/>
            <a:ext cx="1471878" cy="546669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6" name="Google Shape;206;p33"/>
          <p:cNvSpPr/>
          <p:nvPr/>
        </p:nvSpPr>
        <p:spPr>
          <a:xfrm rot="1555421">
            <a:off x="3594934" y="3300890"/>
            <a:ext cx="1054730" cy="546621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99540">
            <a:off x="8138171" y="213900"/>
            <a:ext cx="632845" cy="632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722375" y="1861300"/>
            <a:ext cx="5482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Large-language models &amp; optimization</a:t>
            </a:r>
            <a:endParaRPr sz="3900"/>
          </a:p>
        </p:txBody>
      </p:sp>
      <p:sp>
        <p:nvSpPr>
          <p:cNvPr id="213" name="Google Shape;213;p34"/>
          <p:cNvSpPr txBox="1"/>
          <p:nvPr>
            <p:ph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14" name="Google Shape;214;p34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81717"/>
              </a:buClr>
              <a:buSzPts val="1100"/>
              <a:buFont typeface="Arial"/>
              <a:buNone/>
            </a:pPr>
            <a:r>
              <a:rPr lang="en"/>
              <a:t>Prompt engineering, RAG, and fine-tuning!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LLMs?</a:t>
            </a:r>
            <a:endParaRPr/>
          </a:p>
        </p:txBody>
      </p:sp>
      <p:sp>
        <p:nvSpPr>
          <p:cNvPr id="220" name="Google Shape;220;p35"/>
          <p:cNvSpPr txBox="1"/>
          <p:nvPr>
            <p:ph idx="1" type="subTitle"/>
          </p:nvPr>
        </p:nvSpPr>
        <p:spPr>
          <a:xfrm>
            <a:off x="713225" y="1189850"/>
            <a:ext cx="3309000" cy="32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 (LLMs) are machine learning models that excel at processing and generating text at a large scale.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Their training allow them to understand patterns in text for </a:t>
            </a:r>
            <a:r>
              <a:rPr lang="en"/>
              <a:t>different</a:t>
            </a:r>
            <a:r>
              <a:rPr lang="en"/>
              <a:t> topics, and generate </a:t>
            </a:r>
            <a:r>
              <a:rPr lang="en"/>
              <a:t>text fitting prompts.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allows LLMs to accomplish this is the </a:t>
            </a:r>
            <a:r>
              <a:rPr lang="en" u="sng"/>
              <a:t>transformer architecture</a:t>
            </a:r>
            <a:r>
              <a:rPr lang="en"/>
              <a:t> (see right [2]).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Transformers are a type of neural network that, unlike other NLP technologies (autocomplete) which only takes in context from a very small window (i.e. the last sentence), transformers have much larger context windows.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525" y="1461150"/>
            <a:ext cx="4151800" cy="22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and generality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077000" y="2218450"/>
            <a:ext cx="4663800" cy="28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are trained on massive amounts of training data, meaning two things: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They’re great at general things!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They (sometimes) lack specific skills or knowledge about more specific things.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further downside to the second point is that since they don’t ‘understand’ what they’re saying, they sometimes may be prone to </a:t>
            </a:r>
            <a:r>
              <a:rPr lang="en"/>
              <a:t>generating</a:t>
            </a:r>
            <a:r>
              <a:rPr lang="en"/>
              <a:t> false information, a.k.a. hallucinating. [5]</a:t>
            </a:r>
            <a:endParaRPr/>
          </a:p>
        </p:txBody>
      </p:sp>
      <p:pic>
        <p:nvPicPr>
          <p:cNvPr id="228" name="Google Shape;2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75" y="2274341"/>
            <a:ext cx="3184050" cy="179177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6"/>
          <p:cNvSpPr txBox="1"/>
          <p:nvPr/>
        </p:nvSpPr>
        <p:spPr>
          <a:xfrm>
            <a:off x="446475" y="4008625"/>
            <a:ext cx="3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[4]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388" y="1439026"/>
            <a:ext cx="7803226" cy="22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9575" y="1302076"/>
            <a:ext cx="4684900" cy="25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750" y="506375"/>
            <a:ext cx="6002499" cy="413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techniques</a:t>
            </a:r>
            <a:endParaRPr/>
          </a:p>
        </p:txBody>
      </p:sp>
      <p:sp>
        <p:nvSpPr>
          <p:cNvPr id="250" name="Google Shape;250;p40"/>
          <p:cNvSpPr txBox="1"/>
          <p:nvPr>
            <p:ph idx="4" type="subTitle"/>
          </p:nvPr>
        </p:nvSpPr>
        <p:spPr>
          <a:xfrm>
            <a:off x="71322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3319390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Retrieval-Augmented Generation</a:t>
            </a:r>
            <a:endParaRPr/>
          </a:p>
        </p:txBody>
      </p:sp>
      <p:sp>
        <p:nvSpPr>
          <p:cNvPr id="252" name="Google Shape;252;p40"/>
          <p:cNvSpPr txBox="1"/>
          <p:nvPr>
            <p:ph idx="1" type="subTitle"/>
          </p:nvPr>
        </p:nvSpPr>
        <p:spPr>
          <a:xfrm>
            <a:off x="71322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prompts more specific to </a:t>
            </a:r>
            <a:r>
              <a:rPr lang="en"/>
              <a:t>allow</a:t>
            </a:r>
            <a:r>
              <a:rPr lang="en"/>
              <a:t> for better and more honed responses from models. </a:t>
            </a:r>
            <a:endParaRPr/>
          </a:p>
        </p:txBody>
      </p:sp>
      <p:sp>
        <p:nvSpPr>
          <p:cNvPr id="253" name="Google Shape;253;p40"/>
          <p:cNvSpPr txBox="1"/>
          <p:nvPr>
            <p:ph idx="2" type="subTitle"/>
          </p:nvPr>
        </p:nvSpPr>
        <p:spPr>
          <a:xfrm>
            <a:off x="3319390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Providing LLMs with information for them to base their responses off of, allowing them to access data it wasn’t trained on. [6]</a:t>
            </a:r>
            <a:endParaRPr/>
          </a:p>
        </p:txBody>
      </p:sp>
      <p:sp>
        <p:nvSpPr>
          <p:cNvPr id="254" name="Google Shape;254;p40"/>
          <p:cNvSpPr txBox="1"/>
          <p:nvPr>
            <p:ph idx="3" type="subTitle"/>
          </p:nvPr>
        </p:nvSpPr>
        <p:spPr>
          <a:xfrm>
            <a:off x="5925555" y="2588075"/>
            <a:ext cx="25053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the model’s underlying parameters by training it on specific examples that are labelled (supervised learning) so it can generate more suited responses. [6]</a:t>
            </a:r>
            <a:endParaRPr/>
          </a:p>
        </p:txBody>
      </p:sp>
      <p:sp>
        <p:nvSpPr>
          <p:cNvPr id="255" name="Google Shape;255;p40"/>
          <p:cNvSpPr txBox="1"/>
          <p:nvPr>
            <p:ph idx="6" type="subTitle"/>
          </p:nvPr>
        </p:nvSpPr>
        <p:spPr>
          <a:xfrm>
            <a:off x="5925555" y="1987175"/>
            <a:ext cx="25053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Tuning</a:t>
            </a:r>
            <a:endParaRPr/>
          </a:p>
        </p:txBody>
      </p:sp>
      <p:sp>
        <p:nvSpPr>
          <p:cNvPr id="256" name="Google Shape;256;p40"/>
          <p:cNvSpPr txBox="1"/>
          <p:nvPr>
            <p:ph idx="7" type="title"/>
          </p:nvPr>
        </p:nvSpPr>
        <p:spPr>
          <a:xfrm>
            <a:off x="3319390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257" name="Google Shape;257;p40"/>
          <p:cNvSpPr txBox="1"/>
          <p:nvPr>
            <p:ph idx="8" type="title"/>
          </p:nvPr>
        </p:nvSpPr>
        <p:spPr>
          <a:xfrm>
            <a:off x="713225" y="1556083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258" name="Google Shape;258;p40"/>
          <p:cNvSpPr txBox="1"/>
          <p:nvPr>
            <p:ph idx="9" type="title"/>
          </p:nvPr>
        </p:nvSpPr>
        <p:spPr>
          <a:xfrm>
            <a:off x="5925555" y="1556080"/>
            <a:ext cx="734700" cy="4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375" y="661263"/>
            <a:ext cx="572124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1"/>
          <p:cNvSpPr txBox="1"/>
          <p:nvPr/>
        </p:nvSpPr>
        <p:spPr>
          <a:xfrm>
            <a:off x="1642625" y="4414725"/>
            <a:ext cx="487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[7]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2"/>
          <p:cNvSpPr txBox="1"/>
          <p:nvPr>
            <p:ph type="title"/>
          </p:nvPr>
        </p:nvSpPr>
        <p:spPr>
          <a:xfrm>
            <a:off x="722375" y="1861300"/>
            <a:ext cx="5482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Drafting a potential solution</a:t>
            </a:r>
            <a:endParaRPr sz="4300"/>
          </a:p>
        </p:txBody>
      </p:sp>
      <p:sp>
        <p:nvSpPr>
          <p:cNvPr id="270" name="Google Shape;270;p42"/>
          <p:cNvSpPr txBox="1"/>
          <p:nvPr>
            <p:ph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71" name="Google Shape;271;p42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81717"/>
              </a:buClr>
              <a:buSzPts val="1100"/>
              <a:buFont typeface="Arial"/>
              <a:buNone/>
            </a:pPr>
            <a:r>
              <a:rPr lang="en"/>
              <a:t>What does the workflow look like?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Experience</a:t>
            </a:r>
            <a:endParaRPr/>
          </a:p>
        </p:txBody>
      </p:sp>
      <p:sp>
        <p:nvSpPr>
          <p:cNvPr id="277" name="Google Shape;277;p43"/>
          <p:cNvSpPr txBox="1"/>
          <p:nvPr>
            <p:ph idx="3" type="subTitle"/>
          </p:nvPr>
        </p:nvSpPr>
        <p:spPr>
          <a:xfrm>
            <a:off x="1373850" y="1160700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has a image or paper of signaling pathway they want to convert to SBML Multi.</a:t>
            </a:r>
            <a:endParaRPr/>
          </a:p>
        </p:txBody>
      </p:sp>
      <p:sp>
        <p:nvSpPr>
          <p:cNvPr id="278" name="Google Shape;278;p43"/>
          <p:cNvSpPr/>
          <p:nvPr/>
        </p:nvSpPr>
        <p:spPr>
          <a:xfrm rot="5400000">
            <a:off x="4312958" y="1577540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43"/>
          <p:cNvSpPr txBox="1"/>
          <p:nvPr>
            <p:ph idx="3" type="subTitle"/>
          </p:nvPr>
        </p:nvSpPr>
        <p:spPr>
          <a:xfrm>
            <a:off x="1373850" y="2109900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uploads file to LLM.</a:t>
            </a:r>
            <a:endParaRPr/>
          </a:p>
        </p:txBody>
      </p:sp>
      <p:sp>
        <p:nvSpPr>
          <p:cNvPr id="280" name="Google Shape;280;p43"/>
          <p:cNvSpPr/>
          <p:nvPr/>
        </p:nvSpPr>
        <p:spPr>
          <a:xfrm rot="5400000">
            <a:off x="4312958" y="2526740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43"/>
          <p:cNvSpPr txBox="1"/>
          <p:nvPr>
            <p:ph idx="3" type="subTitle"/>
          </p:nvPr>
        </p:nvSpPr>
        <p:spPr>
          <a:xfrm>
            <a:off x="1366646" y="3162775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generates SBML Multi file &amp; user validates if necessary.</a:t>
            </a:r>
            <a:endParaRPr/>
          </a:p>
        </p:txBody>
      </p:sp>
      <p:sp>
        <p:nvSpPr>
          <p:cNvPr id="282" name="Google Shape;282;p43"/>
          <p:cNvSpPr/>
          <p:nvPr/>
        </p:nvSpPr>
        <p:spPr>
          <a:xfrm rot="5400000">
            <a:off x="4312958" y="3618915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43"/>
          <p:cNvSpPr txBox="1"/>
          <p:nvPr>
            <p:ph idx="3" type="subTitle"/>
          </p:nvPr>
        </p:nvSpPr>
        <p:spPr>
          <a:xfrm>
            <a:off x="1373850" y="4215650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exports file to Simmune.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Back-End Workflow</a:t>
            </a:r>
            <a:endParaRPr/>
          </a:p>
        </p:txBody>
      </p:sp>
      <p:sp>
        <p:nvSpPr>
          <p:cNvPr id="289" name="Google Shape;289;p44"/>
          <p:cNvSpPr txBox="1"/>
          <p:nvPr>
            <p:ph idx="3" type="subTitle"/>
          </p:nvPr>
        </p:nvSpPr>
        <p:spPr>
          <a:xfrm>
            <a:off x="1373850" y="1160700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in image input.</a:t>
            </a:r>
            <a:endParaRPr/>
          </a:p>
        </p:txBody>
      </p:sp>
      <p:sp>
        <p:nvSpPr>
          <p:cNvPr id="290" name="Google Shape;290;p44"/>
          <p:cNvSpPr/>
          <p:nvPr/>
        </p:nvSpPr>
        <p:spPr>
          <a:xfrm rot="5400000">
            <a:off x="4312958" y="1577540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Google Shape;291;p44"/>
          <p:cNvSpPr txBox="1"/>
          <p:nvPr>
            <p:ph idx="3" type="subTitle"/>
          </p:nvPr>
        </p:nvSpPr>
        <p:spPr>
          <a:xfrm>
            <a:off x="1373850" y="2271188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prompt engineering and</a:t>
            </a:r>
            <a:r>
              <a:rPr lang="en"/>
              <a:t> RAG to optimize model to generate SBML Multi files.</a:t>
            </a:r>
            <a:endParaRPr/>
          </a:p>
        </p:txBody>
      </p:sp>
      <p:sp>
        <p:nvSpPr>
          <p:cNvPr id="292" name="Google Shape;292;p44"/>
          <p:cNvSpPr/>
          <p:nvPr/>
        </p:nvSpPr>
        <p:spPr>
          <a:xfrm rot="5400000">
            <a:off x="4312958" y="2669715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44"/>
          <p:cNvSpPr txBox="1"/>
          <p:nvPr>
            <p:ph idx="3" type="subTitle"/>
          </p:nvPr>
        </p:nvSpPr>
        <p:spPr>
          <a:xfrm>
            <a:off x="1373850" y="3162775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Integrate model into a GUI.</a:t>
            </a:r>
            <a:endParaRPr/>
          </a:p>
        </p:txBody>
      </p:sp>
      <p:sp>
        <p:nvSpPr>
          <p:cNvPr id="294" name="Google Shape;294;p44"/>
          <p:cNvSpPr/>
          <p:nvPr/>
        </p:nvSpPr>
        <p:spPr>
          <a:xfrm rot="5400000">
            <a:off x="4312958" y="3618915"/>
            <a:ext cx="518100" cy="546600"/>
          </a:xfrm>
          <a:prstGeom prst="rightArrow">
            <a:avLst>
              <a:gd fmla="val 25609" name="adj1"/>
              <a:gd fmla="val 50000" name="adj2"/>
            </a:avLst>
          </a:prstGeom>
          <a:solidFill>
            <a:srgbClr val="2224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44"/>
          <p:cNvSpPr txBox="1"/>
          <p:nvPr>
            <p:ph idx="3" type="subTitle"/>
          </p:nvPr>
        </p:nvSpPr>
        <p:spPr>
          <a:xfrm>
            <a:off x="1373850" y="4215650"/>
            <a:ext cx="6396300" cy="4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 model so others can use.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722375" y="1861300"/>
            <a:ext cx="5482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Application showcase &amp; demonstration</a:t>
            </a:r>
            <a:endParaRPr sz="3900"/>
          </a:p>
        </p:txBody>
      </p:sp>
      <p:sp>
        <p:nvSpPr>
          <p:cNvPr id="301" name="Google Shape;301;p45"/>
          <p:cNvSpPr txBox="1"/>
          <p:nvPr>
            <p:ph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302" name="Google Shape;302;p45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81717"/>
              </a:buClr>
              <a:buSzPts val="1100"/>
              <a:buFont typeface="Arial"/>
              <a:buNone/>
            </a:pPr>
            <a:r>
              <a:rPr lang="en"/>
              <a:t>Current progress on the overall project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6"/>
          <p:cNvSpPr txBox="1"/>
          <p:nvPr>
            <p:ph type="title"/>
          </p:nvPr>
        </p:nvSpPr>
        <p:spPr>
          <a:xfrm>
            <a:off x="722375" y="1861300"/>
            <a:ext cx="54828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Future steps &amp; pain points</a:t>
            </a:r>
            <a:endParaRPr sz="4300"/>
          </a:p>
        </p:txBody>
      </p:sp>
      <p:sp>
        <p:nvSpPr>
          <p:cNvPr id="308" name="Google Shape;308;p46"/>
          <p:cNvSpPr txBox="1"/>
          <p:nvPr>
            <p:ph idx="2" type="title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309" name="Google Shape;309;p46"/>
          <p:cNvSpPr txBox="1"/>
          <p:nvPr>
            <p:ph idx="1" type="subTitle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81717"/>
              </a:buClr>
              <a:buSzPts val="1100"/>
              <a:buFont typeface="Arial"/>
              <a:buNone/>
            </a:pPr>
            <a:r>
              <a:rPr lang="en"/>
              <a:t>What’s next?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Access</a:t>
            </a:r>
            <a:endParaRPr/>
          </a:p>
        </p:txBody>
      </p:sp>
      <p:sp>
        <p:nvSpPr>
          <p:cNvPr id="315" name="Google Shape;315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 &amp; 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7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LLMs are not deterministic; 2 people feeding in the same image and manuscript could get 2 completely different results. Considering a more deterministic approach of building the actual SBML file and using the LLM to instead parse the information.</a:t>
            </a:r>
            <a:endParaRPr/>
          </a:p>
        </p:txBody>
      </p:sp>
      <p:sp>
        <p:nvSpPr>
          <p:cNvPr id="317" name="Google Shape;317;p47"/>
          <p:cNvSpPr txBox="1"/>
          <p:nvPr>
            <p:ph idx="2" type="subTitle"/>
          </p:nvPr>
        </p:nvSpPr>
        <p:spPr>
          <a:xfrm>
            <a:off x="4398476" y="1841275"/>
            <a:ext cx="3571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approach of feeding in the entire manuscript makes the model ingest a lot of noise, eats up the context window, and can cause it to </a:t>
            </a:r>
            <a:r>
              <a:rPr lang="en"/>
              <a:t>hallucinate</a:t>
            </a:r>
            <a:r>
              <a:rPr lang="en"/>
              <a:t> more. Considering a RAG approach of summarising the text and then </a:t>
            </a:r>
            <a:r>
              <a:rPr lang="en"/>
              <a:t>feeding</a:t>
            </a:r>
            <a:r>
              <a:rPr lang="en"/>
              <a:t> it to the model.</a:t>
            </a:r>
            <a:endParaRPr/>
          </a:p>
        </p:txBody>
      </p:sp>
      <p:sp>
        <p:nvSpPr>
          <p:cNvPr id="318" name="Google Shape;318;p47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GENESIS API is only accessible within the NIH network. If application is to be made accessible to other users, another API </a:t>
            </a:r>
            <a:r>
              <a:rPr lang="en"/>
              <a:t>would</a:t>
            </a:r>
            <a:r>
              <a:rPr lang="en"/>
              <a:t> be required.</a:t>
            </a:r>
            <a:endParaRPr/>
          </a:p>
        </p:txBody>
      </p:sp>
      <p:sp>
        <p:nvSpPr>
          <p:cNvPr id="319" name="Google Shape;319;p47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window sizes, elements, and layouts are currently clunky to use and do not </a:t>
            </a:r>
            <a:r>
              <a:rPr lang="en"/>
              <a:t>align</a:t>
            </a:r>
            <a:r>
              <a:rPr lang="en"/>
              <a:t> with the current Simmune standard of using Qt. </a:t>
            </a:r>
            <a:endParaRPr/>
          </a:p>
        </p:txBody>
      </p:sp>
      <p:sp>
        <p:nvSpPr>
          <p:cNvPr id="320" name="Google Shape;320;p47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Determinism</a:t>
            </a:r>
            <a:endParaRPr/>
          </a:p>
        </p:txBody>
      </p:sp>
      <p:sp>
        <p:nvSpPr>
          <p:cNvPr id="321" name="Google Shape;321;p47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Manuscript Parsing</a:t>
            </a:r>
            <a:endParaRPr/>
          </a:p>
        </p:txBody>
      </p:sp>
      <p:sp>
        <p:nvSpPr>
          <p:cNvPr id="322" name="Google Shape;322;p47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UI/UX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"/>
          <p:cNvSpPr txBox="1"/>
          <p:nvPr>
            <p:ph idx="6" type="subTitle"/>
          </p:nvPr>
        </p:nvSpPr>
        <p:spPr>
          <a:xfrm>
            <a:off x="713236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328" name="Google Shape;32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 &amp; 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8"/>
          <p:cNvSpPr txBox="1"/>
          <p:nvPr>
            <p:ph idx="1" type="subTitle"/>
          </p:nvPr>
        </p:nvSpPr>
        <p:spPr>
          <a:xfrm>
            <a:off x="713236" y="1841263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users may want to upload multiple papers as context for a given image, however the current application setup only allows 1. </a:t>
            </a:r>
            <a:endParaRPr/>
          </a:p>
        </p:txBody>
      </p:sp>
      <p:sp>
        <p:nvSpPr>
          <p:cNvPr id="330" name="Google Shape;330;p48"/>
          <p:cNvSpPr txBox="1"/>
          <p:nvPr>
            <p:ph idx="2" type="subTitle"/>
          </p:nvPr>
        </p:nvSpPr>
        <p:spPr>
          <a:xfrm>
            <a:off x="4398476" y="1841275"/>
            <a:ext cx="3571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Single-threaded code freezes the application window whilst the response is generating; user is not aware if application is frozen or working. Considering multithreading to try and solve this</a:t>
            </a:r>
            <a:endParaRPr/>
          </a:p>
        </p:txBody>
      </p:sp>
      <p:sp>
        <p:nvSpPr>
          <p:cNvPr id="331" name="Google Shape;331;p48"/>
          <p:cNvSpPr txBox="1"/>
          <p:nvPr>
            <p:ph idx="3" type="subTitle"/>
          </p:nvPr>
        </p:nvSpPr>
        <p:spPr>
          <a:xfrm>
            <a:off x="713236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version of </a:t>
            </a:r>
            <a:r>
              <a:rPr lang="en"/>
              <a:t>application</a:t>
            </a:r>
            <a:r>
              <a:rPr lang="en"/>
              <a:t> does not save any past conversions as history for users to look back on. Would be a good quality of life update to have them saved.</a:t>
            </a:r>
            <a:endParaRPr/>
          </a:p>
        </p:txBody>
      </p:sp>
      <p:sp>
        <p:nvSpPr>
          <p:cNvPr id="332" name="Google Shape;332;p48"/>
          <p:cNvSpPr txBox="1"/>
          <p:nvPr>
            <p:ph idx="4" type="subTitle"/>
          </p:nvPr>
        </p:nvSpPr>
        <p:spPr>
          <a:xfrm>
            <a:off x="4398464" y="3457887"/>
            <a:ext cx="3322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Few-shot prompting example takes up a lot of space, too many comments, etc. Would be good to clean up the code to make it more </a:t>
            </a:r>
            <a:r>
              <a:rPr lang="en"/>
              <a:t>readable. </a:t>
            </a:r>
            <a:endParaRPr/>
          </a:p>
        </p:txBody>
      </p:sp>
      <p:sp>
        <p:nvSpPr>
          <p:cNvPr id="333" name="Google Shape;333;p48"/>
          <p:cNvSpPr txBox="1"/>
          <p:nvPr>
            <p:ph idx="5" type="subTitle"/>
          </p:nvPr>
        </p:nvSpPr>
        <p:spPr>
          <a:xfrm>
            <a:off x="713236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Papers</a:t>
            </a:r>
            <a:endParaRPr/>
          </a:p>
        </p:txBody>
      </p:sp>
      <p:sp>
        <p:nvSpPr>
          <p:cNvPr id="334" name="Google Shape;334;p48"/>
          <p:cNvSpPr txBox="1"/>
          <p:nvPr>
            <p:ph idx="7" type="subTitle"/>
          </p:nvPr>
        </p:nvSpPr>
        <p:spPr>
          <a:xfrm>
            <a:off x="4398441" y="1240363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Feedback</a:t>
            </a:r>
            <a:endParaRPr/>
          </a:p>
        </p:txBody>
      </p:sp>
      <p:sp>
        <p:nvSpPr>
          <p:cNvPr id="335" name="Google Shape;335;p48"/>
          <p:cNvSpPr txBox="1"/>
          <p:nvPr>
            <p:ph idx="8" type="subTitle"/>
          </p:nvPr>
        </p:nvSpPr>
        <p:spPr>
          <a:xfrm>
            <a:off x="4398441" y="2857000"/>
            <a:ext cx="33222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Code Cleanup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41" name="Google Shape;341;p49"/>
          <p:cNvSpPr txBox="1"/>
          <p:nvPr>
            <p:ph idx="1" type="subTitle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Do you have any questions?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p49"/>
          <p:cNvSpPr txBox="1"/>
          <p:nvPr/>
        </p:nvSpPr>
        <p:spPr>
          <a:xfrm>
            <a:off x="713225" y="3908194"/>
            <a:ext cx="41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48" name="Google Shape;348;p50"/>
          <p:cNvSpPr txBox="1"/>
          <p:nvPr/>
        </p:nvSpPr>
        <p:spPr>
          <a:xfrm>
            <a:off x="715050" y="1069925"/>
            <a:ext cx="7713900" cy="15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[1] C. Stryker, “What are large language models (LLMs)?,”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Ibm.com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Nov. 02, 2023. https://www.ibm.com/think/topics/large-language-models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[2] T. B. Lee and S. Trott, “Large language models, explained with a minimum of math and jargon,”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www.understandingai.org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Jul. 23, 2023. https://www.understandingai.org/p/large-language-models-explained-with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[3] AWS, “What Are Transformers? - Transformers in Artificial Intelligence Explained - AWS,”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Amazon Web Services, Inc.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https://aws.amazon.com/what-is/transformers-in-artificial-intelligence/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[4] J. Cyprus, “Who Should You Target: Specific or General Audiences?,”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SmallBizClub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Aug. 08, 2017. https://smallbizclub.com/startup/marketing-your-new-business/target-specific-general-audiences/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[5] IBM, “What Are AI Hallucinations?,”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IBM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Sep. 01, 2023. https://www.ibm.com/think/topics/ai-hallucinations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[6] I. Belcic and C. Stryker, “RAG vs. fine-tuning,”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Ibm.com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Aug. 14, 2024. https://www.ibm.com/think/topics/rag-vs-fine-tuning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[7] Randall Beans, “The Importance of Cooking at Home | Randall Beans | Blog,” </a:t>
            </a:r>
            <a:r>
              <a:rPr i="1"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Randall Foods, Inc.</a:t>
            </a: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Nov. 22, 2016. https://randallbeans.com/2016/11/22/the-importance-of-cooking-at-home/ (accessed Jun. 17, 2026).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